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7.png" ContentType="image/png"/>
  <Override PartName="/ppt/media/image16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14.png" ContentType="image/png"/>
  <Override PartName="/ppt/media/image5.png" ContentType="image/png"/>
  <Override PartName="/ppt/media/image21.png" ContentType="image/png"/>
  <Override PartName="/ppt/media/image19.png" ContentType="image/png"/>
  <Override PartName="/ppt/media/image6.png" ContentType="image/png"/>
  <Override PartName="/ppt/media/image15.png" ContentType="image/png"/>
  <Override PartName="/ppt/media/image10.png" ContentType="image/png"/>
  <Override PartName="/ppt/media/image1.png" ContentType="image/png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Целевое</c:v>
                </c:pt>
              </c:strCache>
            </c:strRef>
          </c:tx>
          <c:spPr>
            <a:solidFill>
              <a:srgbClr val="cbd5e1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1000" strike="noStrike" u="none">
                    <a:solidFill>
                      <a:srgbClr val="1e293b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Время обработки, с</c:v>
                </c:pt>
                <c:pt idx="1">
                  <c:v>Задержка push, с</c:v>
                </c:pt>
                <c:pt idx="2">
                  <c:v>Время отрисовки, с</c:v>
                </c:pt>
                <c:pt idx="3">
                  <c:v>Потери пакетов, %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5</c:v>
                </c:pt>
                <c:pt idx="1">
                  <c:v>5</c:v>
                </c:pt>
                <c:pt idx="2">
                  <c:v>2</c:v>
                </c:pt>
                <c:pt idx="3">
                  <c:v>0.5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Измерено</c:v>
                </c:pt>
              </c:strCache>
            </c:strRef>
          </c:tx>
          <c:spPr>
            <a:solidFill>
              <a:srgbClr val="f59e0b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1000" strike="noStrike" u="none">
                    <a:solidFill>
                      <a:srgbClr val="1e293b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Время обработки, с</c:v>
                </c:pt>
                <c:pt idx="1">
                  <c:v>Задержка push, с</c:v>
                </c:pt>
                <c:pt idx="2">
                  <c:v>Время отрисовки, с</c:v>
                </c:pt>
                <c:pt idx="3">
                  <c:v>Потери пакетов, %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3.2</c:v>
                </c:pt>
                <c:pt idx="1">
                  <c:v>2.8</c:v>
                </c:pt>
                <c:pt idx="2">
                  <c:v>1.4</c:v>
                </c:pt>
                <c:pt idx="3">
                  <c:v>0.1</c:v>
                </c:pt>
              </c:numCache>
            </c:numRef>
          </c:val>
        </c:ser>
        <c:gapWidth val="150"/>
        <c:overlap val="0"/>
        <c:axId val="94543674"/>
        <c:axId val="4675850"/>
      </c:barChart>
      <c:catAx>
        <c:axId val="9454367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1e293b"/>
                </a:solidFill>
                <a:uFillTx/>
                <a:latin typeface="Arial"/>
              </a:defRPr>
            </a:pPr>
          </a:p>
        </c:txPr>
        <c:crossAx val="4675850"/>
        <c:crosses val="autoZero"/>
        <c:auto val="1"/>
        <c:lblAlgn val="ctr"/>
        <c:lblOffset val="100"/>
        <c:noMultiLvlLbl val="0"/>
      </c:catAx>
      <c:valAx>
        <c:axId val="4675850"/>
        <c:scaling>
          <c:orientation val="minMax"/>
        </c:scaling>
        <c:delete val="0"/>
        <c:axPos val="l"/>
        <c:majorGridlines>
          <c:spPr>
            <a:ln w="6480">
              <a:solidFill>
                <a:srgbClr val="f1f5f9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900" strike="noStrike" u="none">
                <a:solidFill>
                  <a:srgbClr val="64748b"/>
                </a:solidFill>
                <a:uFillTx/>
                <a:latin typeface="Arial"/>
              </a:defRPr>
            </a:pPr>
          </a:p>
        </c:txPr>
        <c:crossAx val="94543674"/>
        <c:crosses val="autoZero"/>
        <c:crossBetween val="between"/>
      </c:valAx>
      <c:spPr>
        <a:noFill/>
        <a:ln w="0">
          <a:noFill/>
        </a:ln>
      </c:spPr>
    </c:plotArea>
    <c:legend>
      <c:legendPos val="t"/>
      <c:overlay val="0"/>
      <c:spPr>
        <a:noFill/>
        <a:ln w="0">
          <a:noFill/>
        </a:ln>
      </c:spPr>
      <c:txPr>
        <a:bodyPr/>
        <a:lstStyle/>
        <a:p>
          <a:pPr>
            <a:defRPr b="0" sz="1100" strike="noStrike" u="none">
              <a:solidFill>
                <a:srgbClr val="1e293b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solidFill>
      <a:srgbClr val="ffffff"/>
    </a:solidFill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перемещения страницы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B2EDD2F-E91E-4E78-982A-279AB2D3CC87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9896066-A96F-4E44-B6C3-FB412FB97E49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BA4894A-60FA-4B5B-9FBD-1E5D2149EFCE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9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8D11217-164B-4030-AE5E-0342B6D53D3F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9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2869702-6C80-4E42-A095-F56A191A6CBC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9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88724D4-714F-483C-80A3-438D86691B77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0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10089A1-049F-4120-921E-336C3320935D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B706DFE-1B77-40C8-952A-5906E1D19756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0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D998770-6FC0-4BB0-93FB-53EBE46A2495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0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81710DC-60D1-43F2-98AC-4CF62B7500A2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1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1D5A658-EF2C-43C6-9499-8A4EEE19E305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1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4E8EC66-FC7B-48A4-9B24-D58FF339EFD2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25E59CB-BED6-4644-BEC2-F0F8E05E0004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2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19B8C82-80AC-4F86-85CD-BEE64ECF93A3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2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EFBE814-B5AE-4071-835E-9187458455E4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3105321-0053-4927-AC7E-D8DC478876F7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3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81D8BF6-00D7-44F0-9863-73EFD32522CD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25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5.png"/><Relationship Id="rId3" Type="http://schemas.openxmlformats.org/officeDocument/2006/relationships/image" Target="../media/image25.png"/><Relationship Id="rId4" Type="http://schemas.openxmlformats.org/officeDocument/2006/relationships/image" Target="../media/image2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7772400" y="914400"/>
            <a:ext cx="3657600" cy="360"/>
          </a:xfrm>
          <a:prstGeom prst="line">
            <a:avLst/>
          </a:prstGeom>
          <a:ln w="6350">
            <a:solidFill>
              <a:srgbClr val="67e8f9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Shape 1"/>
          <p:cNvSpPr/>
          <p:nvPr/>
        </p:nvSpPr>
        <p:spPr>
          <a:xfrm>
            <a:off x="7772400" y="1280160"/>
            <a:ext cx="3657600" cy="360"/>
          </a:xfrm>
          <a:prstGeom prst="line">
            <a:avLst/>
          </a:prstGeom>
          <a:ln w="6350">
            <a:solidFill>
              <a:srgbClr val="67e8f9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7772400" y="1645920"/>
            <a:ext cx="3657600" cy="360"/>
          </a:xfrm>
          <a:prstGeom prst="line">
            <a:avLst/>
          </a:prstGeom>
          <a:ln w="6350">
            <a:solidFill>
              <a:srgbClr val="67e8f9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7772400" y="2011680"/>
            <a:ext cx="3657600" cy="360"/>
          </a:xfrm>
          <a:prstGeom prst="line">
            <a:avLst/>
          </a:prstGeom>
          <a:ln w="6350">
            <a:solidFill>
              <a:srgbClr val="67e8f9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7772400" y="2377440"/>
            <a:ext cx="3657600" cy="360"/>
          </a:xfrm>
          <a:prstGeom prst="line">
            <a:avLst/>
          </a:prstGeom>
          <a:ln w="6350">
            <a:solidFill>
              <a:srgbClr val="67e8f9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7772400" y="2743200"/>
            <a:ext cx="3657600" cy="360"/>
          </a:xfrm>
          <a:prstGeom prst="line">
            <a:avLst/>
          </a:prstGeom>
          <a:ln w="6350">
            <a:solidFill>
              <a:srgbClr val="67e8f9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Text 7"/>
          <p:cNvSpPr/>
          <p:nvPr/>
        </p:nvSpPr>
        <p:spPr>
          <a:xfrm>
            <a:off x="731520" y="9144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601" strike="noStrike" u="none">
                <a:solidFill>
                  <a:srgbClr val="67e8f9"/>
                </a:solidFill>
                <a:effectLst/>
                <a:uFillTx/>
                <a:latin typeface="Calibri"/>
                <a:ea typeface="Calibri"/>
              </a:rPr>
              <a:t>КУРСОВОЙ ПРОЕКТ · 2026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31520" y="1463040"/>
            <a:ext cx="1051524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Исследование методов обработки и интерпретации сейсмических сигналов от распределённой сети датчиков на здании с применением искусственного интеллекта</a:t>
            </a: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731520" y="3657600"/>
            <a:ext cx="1371600" cy="360"/>
          </a:xfrm>
          <a:prstGeom prst="line">
            <a:avLst/>
          </a:prstGeom>
          <a:ln w="254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731520" y="384048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trike="noStrike" u="none">
                <a:solidFill>
                  <a:srgbClr val="67e8f9"/>
                </a:solidFill>
                <a:effectLst/>
                <a:uFillTx/>
                <a:latin typeface="Calibri"/>
                <a:ea typeface="Calibri"/>
              </a:rPr>
              <a:t>на основе распределённой сети сейсмических датчиков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trike="noStrike" u="none">
                <a:solidFill>
                  <a:srgbClr val="67e8f9"/>
                </a:solidFill>
                <a:effectLst/>
                <a:uFillTx/>
                <a:latin typeface="Calibri"/>
                <a:ea typeface="Calibri"/>
              </a:rPr>
              <a:t>и искусственного интеллекта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731520" y="548640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Выполнил: </a:t>
            </a: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студент Аймаганбетов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731520" y="585216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Дисциплина: </a:t>
            </a: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Реинжиниринг и проектирование ИС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" name="Image 0" descr="preencoded.png"/>
          <p:cNvPicPr/>
          <p:nvPr/>
        </p:nvPicPr>
        <p:blipFill>
          <a:blip r:embed="rId1">
            <a:alphaModFix amt="70000"/>
          </a:blip>
          <a:stretch/>
        </p:blipFill>
        <p:spPr>
          <a:xfrm>
            <a:off x="10728720" y="5212080"/>
            <a:ext cx="1005480" cy="1005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457200" y="411480"/>
            <a:ext cx="72720" cy="292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Text 1"/>
          <p:cNvSpPr/>
          <p:nvPr/>
        </p:nvSpPr>
        <p:spPr>
          <a:xfrm>
            <a:off x="640080" y="384120"/>
            <a:ext cx="6400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СОДЕРЖАНИЕ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2"/>
          <p:cNvSpPr/>
          <p:nvPr/>
        </p:nvSpPr>
        <p:spPr>
          <a:xfrm>
            <a:off x="10911600" y="384120"/>
            <a:ext cx="822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02 / 17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3"/>
          <p:cNvSpPr/>
          <p:nvPr/>
        </p:nvSpPr>
        <p:spPr>
          <a:xfrm>
            <a:off x="457200" y="868680"/>
            <a:ext cx="11277000" cy="360"/>
          </a:xfrm>
          <a:prstGeom prst="line">
            <a:avLst/>
          </a:prstGeom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Text 4"/>
          <p:cNvSpPr/>
          <p:nvPr/>
        </p:nvSpPr>
        <p:spPr>
          <a:xfrm>
            <a:off x="45720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ИС мониторинга здания · Сейсмодатчики + ИИ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5"/>
          <p:cNvSpPr/>
          <p:nvPr/>
        </p:nvSpPr>
        <p:spPr>
          <a:xfrm>
            <a:off x="457200" y="1051560"/>
            <a:ext cx="11277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0a2540"/>
                </a:solidFill>
                <a:effectLst/>
                <a:uFillTx/>
                <a:latin typeface="Georgia"/>
                <a:ea typeface="Georgia"/>
              </a:rPr>
              <a:t>О чём пойдёт речь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6"/>
          <p:cNvSpPr/>
          <p:nvPr/>
        </p:nvSpPr>
        <p:spPr>
          <a:xfrm>
            <a:off x="457200" y="17830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Структура доклада из семи блоков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7"/>
          <p:cNvSpPr/>
          <p:nvPr/>
        </p:nvSpPr>
        <p:spPr>
          <a:xfrm>
            <a:off x="640080" y="2468880"/>
            <a:ext cx="548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59e0b"/>
                </a:solidFill>
                <a:effectLst/>
                <a:uFillTx/>
                <a:latin typeface="Georgia"/>
                <a:ea typeface="Georgia"/>
              </a:rPr>
              <a:t>01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" name="Image 0" descr="preencoded.png"/>
          <p:cNvPicPr/>
          <p:nvPr/>
        </p:nvPicPr>
        <p:blipFill>
          <a:blip r:embed="rId1"/>
          <a:stretch/>
        </p:blipFill>
        <p:spPr>
          <a:xfrm>
            <a:off x="1280160" y="256932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Text 8"/>
          <p:cNvSpPr/>
          <p:nvPr/>
        </p:nvSpPr>
        <p:spPr>
          <a:xfrm>
            <a:off x="1691640" y="2468880"/>
            <a:ext cx="4251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Проблема и актуальность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9"/>
          <p:cNvSpPr/>
          <p:nvPr/>
        </p:nvSpPr>
        <p:spPr>
          <a:xfrm>
            <a:off x="640080" y="2989800"/>
            <a:ext cx="5029200" cy="360"/>
          </a:xfrm>
          <a:prstGeom prst="line">
            <a:avLst/>
          </a:prstGeom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Text 10"/>
          <p:cNvSpPr/>
          <p:nvPr/>
        </p:nvSpPr>
        <p:spPr>
          <a:xfrm>
            <a:off x="640080" y="3136320"/>
            <a:ext cx="548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59e0b"/>
                </a:solidFill>
                <a:effectLst/>
                <a:uFillTx/>
                <a:latin typeface="Georgia"/>
                <a:ea typeface="Georgia"/>
              </a:rPr>
              <a:t>02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" name="Image 1" descr="preencoded.png"/>
          <p:cNvPicPr/>
          <p:nvPr/>
        </p:nvPicPr>
        <p:blipFill>
          <a:blip r:embed="rId2"/>
          <a:stretch/>
        </p:blipFill>
        <p:spPr>
          <a:xfrm>
            <a:off x="1280160" y="323712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Text 11"/>
          <p:cNvSpPr/>
          <p:nvPr/>
        </p:nvSpPr>
        <p:spPr>
          <a:xfrm>
            <a:off x="1691640" y="3136320"/>
            <a:ext cx="4251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Анализ предметной области (AS-IS)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2"/>
          <p:cNvSpPr/>
          <p:nvPr/>
        </p:nvSpPr>
        <p:spPr>
          <a:xfrm>
            <a:off x="640080" y="3657600"/>
            <a:ext cx="5029200" cy="360"/>
          </a:xfrm>
          <a:prstGeom prst="line">
            <a:avLst/>
          </a:prstGeom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Text 13"/>
          <p:cNvSpPr/>
          <p:nvPr/>
        </p:nvSpPr>
        <p:spPr>
          <a:xfrm>
            <a:off x="640080" y="3803760"/>
            <a:ext cx="548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59e0b"/>
                </a:solidFill>
                <a:effectLst/>
                <a:uFillTx/>
                <a:latin typeface="Georgia"/>
                <a:ea typeface="Georgia"/>
              </a:rPr>
              <a:t>03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" name="Image 2" descr="preencoded.png"/>
          <p:cNvPicPr/>
          <p:nvPr/>
        </p:nvPicPr>
        <p:blipFill>
          <a:blip r:embed="rId3"/>
          <a:stretch/>
        </p:blipFill>
        <p:spPr>
          <a:xfrm>
            <a:off x="1280160" y="390456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Text 14"/>
          <p:cNvSpPr/>
          <p:nvPr/>
        </p:nvSpPr>
        <p:spPr>
          <a:xfrm>
            <a:off x="1691640" y="3803760"/>
            <a:ext cx="4251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Требования и их качество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5"/>
          <p:cNvSpPr/>
          <p:nvPr/>
        </p:nvSpPr>
        <p:spPr>
          <a:xfrm>
            <a:off x="640080" y="4325040"/>
            <a:ext cx="5029200" cy="360"/>
          </a:xfrm>
          <a:prstGeom prst="line">
            <a:avLst/>
          </a:prstGeom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Text 16"/>
          <p:cNvSpPr/>
          <p:nvPr/>
        </p:nvSpPr>
        <p:spPr>
          <a:xfrm>
            <a:off x="640080" y="4471560"/>
            <a:ext cx="548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59e0b"/>
                </a:solidFill>
                <a:effectLst/>
                <a:uFillTx/>
                <a:latin typeface="Georgia"/>
                <a:ea typeface="Georgia"/>
              </a:rPr>
              <a:t>04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" name="Image 3" descr="preencoded.png"/>
          <p:cNvPicPr/>
          <p:nvPr/>
        </p:nvPicPr>
        <p:blipFill>
          <a:blip r:embed="rId4"/>
          <a:stretch/>
        </p:blipFill>
        <p:spPr>
          <a:xfrm>
            <a:off x="1280160" y="457200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Text 17"/>
          <p:cNvSpPr/>
          <p:nvPr/>
        </p:nvSpPr>
        <p:spPr>
          <a:xfrm>
            <a:off x="1691640" y="4471560"/>
            <a:ext cx="4251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Архитектура и проектирование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8"/>
          <p:cNvSpPr/>
          <p:nvPr/>
        </p:nvSpPr>
        <p:spPr>
          <a:xfrm>
            <a:off x="640080" y="4992480"/>
            <a:ext cx="5029200" cy="360"/>
          </a:xfrm>
          <a:prstGeom prst="line">
            <a:avLst/>
          </a:prstGeom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6309360" y="2468880"/>
            <a:ext cx="548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59e0b"/>
                </a:solidFill>
                <a:effectLst/>
                <a:uFillTx/>
                <a:latin typeface="Georgia"/>
                <a:ea typeface="Georgia"/>
              </a:rPr>
              <a:t>05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" name="Image 4" descr="preencoded.png"/>
          <p:cNvPicPr/>
          <p:nvPr/>
        </p:nvPicPr>
        <p:blipFill>
          <a:blip r:embed="rId5"/>
          <a:stretch/>
        </p:blipFill>
        <p:spPr>
          <a:xfrm>
            <a:off x="6949440" y="256932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Text 20"/>
          <p:cNvSpPr/>
          <p:nvPr/>
        </p:nvSpPr>
        <p:spPr>
          <a:xfrm>
            <a:off x="7360920" y="2468880"/>
            <a:ext cx="4251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Реализация прототипа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1"/>
          <p:cNvSpPr/>
          <p:nvPr/>
        </p:nvSpPr>
        <p:spPr>
          <a:xfrm>
            <a:off x="6309360" y="2989800"/>
            <a:ext cx="5029200" cy="360"/>
          </a:xfrm>
          <a:prstGeom prst="line">
            <a:avLst/>
          </a:prstGeom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Text 22"/>
          <p:cNvSpPr/>
          <p:nvPr/>
        </p:nvSpPr>
        <p:spPr>
          <a:xfrm>
            <a:off x="6309360" y="3136320"/>
            <a:ext cx="548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59e0b"/>
                </a:solidFill>
                <a:effectLst/>
                <a:uFillTx/>
                <a:latin typeface="Georgia"/>
                <a:ea typeface="Georgia"/>
              </a:rPr>
              <a:t>06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" name="Image 5" descr="preencoded.png"/>
          <p:cNvPicPr/>
          <p:nvPr/>
        </p:nvPicPr>
        <p:blipFill>
          <a:blip r:embed="rId6"/>
          <a:stretch/>
        </p:blipFill>
        <p:spPr>
          <a:xfrm>
            <a:off x="6949440" y="323712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 23"/>
          <p:cNvSpPr/>
          <p:nvPr/>
        </p:nvSpPr>
        <p:spPr>
          <a:xfrm>
            <a:off x="7360920" y="3136320"/>
            <a:ext cx="4251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Тестирование и результаты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24"/>
          <p:cNvSpPr/>
          <p:nvPr/>
        </p:nvSpPr>
        <p:spPr>
          <a:xfrm>
            <a:off x="6309360" y="3657600"/>
            <a:ext cx="5029200" cy="360"/>
          </a:xfrm>
          <a:prstGeom prst="line">
            <a:avLst/>
          </a:prstGeom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Text 25"/>
          <p:cNvSpPr/>
          <p:nvPr/>
        </p:nvSpPr>
        <p:spPr>
          <a:xfrm>
            <a:off x="6309360" y="3803760"/>
            <a:ext cx="548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59e0b"/>
                </a:solidFill>
                <a:effectLst/>
                <a:uFillTx/>
                <a:latin typeface="Georgia"/>
                <a:ea typeface="Georgia"/>
              </a:rPr>
              <a:t>07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Image 6" descr="preencoded.png"/>
          <p:cNvPicPr/>
          <p:nvPr/>
        </p:nvPicPr>
        <p:blipFill>
          <a:blip r:embed="rId7"/>
          <a:stretch/>
        </p:blipFill>
        <p:spPr>
          <a:xfrm>
            <a:off x="6949440" y="390456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Text 26"/>
          <p:cNvSpPr/>
          <p:nvPr/>
        </p:nvSpPr>
        <p:spPr>
          <a:xfrm>
            <a:off x="7360920" y="3803760"/>
            <a:ext cx="4251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Выводы и перспективы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27"/>
          <p:cNvSpPr/>
          <p:nvPr/>
        </p:nvSpPr>
        <p:spPr>
          <a:xfrm>
            <a:off x="6309360" y="4325040"/>
            <a:ext cx="5029200" cy="360"/>
          </a:xfrm>
          <a:prstGeom prst="line">
            <a:avLst/>
          </a:prstGeom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0"/>
          <p:cNvSpPr/>
          <p:nvPr/>
        </p:nvSpPr>
        <p:spPr>
          <a:xfrm>
            <a:off x="457200" y="411480"/>
            <a:ext cx="72720" cy="292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Text 1"/>
          <p:cNvSpPr/>
          <p:nvPr/>
        </p:nvSpPr>
        <p:spPr>
          <a:xfrm>
            <a:off x="640080" y="384120"/>
            <a:ext cx="6400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01 · ПРОБЛЕМА И АКТУАЛЬНОСТЬ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10911600" y="384120"/>
            <a:ext cx="822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03 / 17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3"/>
          <p:cNvSpPr/>
          <p:nvPr/>
        </p:nvSpPr>
        <p:spPr>
          <a:xfrm>
            <a:off x="457200" y="868680"/>
            <a:ext cx="11277000" cy="360"/>
          </a:xfrm>
          <a:prstGeom prst="line">
            <a:avLst/>
          </a:prstGeom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Text 4"/>
          <p:cNvSpPr/>
          <p:nvPr/>
        </p:nvSpPr>
        <p:spPr>
          <a:xfrm>
            <a:off x="45720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ИС мониторинга здания · Сейсмодатчики + ИИ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457200" y="1051560"/>
            <a:ext cx="11277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0a2540"/>
                </a:solidFill>
                <a:effectLst/>
                <a:uFillTx/>
                <a:latin typeface="Georgia"/>
                <a:ea typeface="Georgia"/>
              </a:rPr>
              <a:t>Зачем нужен непрерывный мониторинг зданий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457200" y="17830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Скрытые повреждения дешевле обнаружить, чем устранить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640080" y="2468880"/>
            <a:ext cx="62175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Стихийные явления (землетрясения, ветер), техногенные вибрации и накопление усталостных повреждений приводят к появлению скрытых дефектов в несущих конструкциях.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8"/>
          <p:cNvSpPr/>
          <p:nvPr/>
        </p:nvSpPr>
        <p:spPr>
          <a:xfrm>
            <a:off x="640080" y="3840480"/>
            <a:ext cx="62175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Классические SHM-системы (Structural Health Monitoring) дороги и закрыты. Бюджетные MEMS-датчики в связке с нейросетями позволяют построить доступное и масштабируемое решение.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9"/>
          <p:cNvSpPr/>
          <p:nvPr/>
        </p:nvSpPr>
        <p:spPr>
          <a:xfrm>
            <a:off x="7223760" y="2468880"/>
            <a:ext cx="4297320" cy="9597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Shape 10"/>
          <p:cNvSpPr/>
          <p:nvPr/>
        </p:nvSpPr>
        <p:spPr>
          <a:xfrm>
            <a:off x="7223760" y="2468880"/>
            <a:ext cx="72720" cy="959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 11"/>
          <p:cNvSpPr/>
          <p:nvPr/>
        </p:nvSpPr>
        <p:spPr>
          <a:xfrm>
            <a:off x="7498080" y="257868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59e0b"/>
                </a:solidFill>
                <a:effectLst/>
                <a:uFillTx/>
                <a:latin typeface="Georgia"/>
                <a:ea typeface="Georgia"/>
              </a:rPr>
              <a:t>0.005 g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2"/>
          <p:cNvSpPr/>
          <p:nvPr/>
        </p:nvSpPr>
        <p:spPr>
          <a:xfrm>
            <a:off x="9326880" y="2633400"/>
            <a:ext cx="2102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порог срабатывания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3"/>
          <p:cNvSpPr/>
          <p:nvPr/>
        </p:nvSpPr>
        <p:spPr>
          <a:xfrm>
            <a:off x="7223760" y="3611880"/>
            <a:ext cx="4297320" cy="9597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Shape 14"/>
          <p:cNvSpPr/>
          <p:nvPr/>
        </p:nvSpPr>
        <p:spPr>
          <a:xfrm>
            <a:off x="7223760" y="3611880"/>
            <a:ext cx="72720" cy="959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 15"/>
          <p:cNvSpPr/>
          <p:nvPr/>
        </p:nvSpPr>
        <p:spPr>
          <a:xfrm>
            <a:off x="7498080" y="372168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4b8a6"/>
                </a:solidFill>
                <a:effectLst/>
                <a:uFillTx/>
                <a:latin typeface="Georgia"/>
                <a:ea typeface="Georgia"/>
              </a:rPr>
              <a:t>≤ 5 сек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6"/>
          <p:cNvSpPr/>
          <p:nvPr/>
        </p:nvSpPr>
        <p:spPr>
          <a:xfrm>
            <a:off x="9326880" y="3776400"/>
            <a:ext cx="2102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от события до уведомления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7"/>
          <p:cNvSpPr/>
          <p:nvPr/>
        </p:nvSpPr>
        <p:spPr>
          <a:xfrm>
            <a:off x="7223760" y="4754880"/>
            <a:ext cx="4297320" cy="9597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Shape 18"/>
          <p:cNvSpPr/>
          <p:nvPr/>
        </p:nvSpPr>
        <p:spPr>
          <a:xfrm>
            <a:off x="7223760" y="4754880"/>
            <a:ext cx="72720" cy="9597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 19"/>
          <p:cNvSpPr/>
          <p:nvPr/>
        </p:nvSpPr>
        <p:spPr>
          <a:xfrm>
            <a:off x="7498080" y="486468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a2540"/>
                </a:solidFill>
                <a:effectLst/>
                <a:uFillTx/>
                <a:latin typeface="Georgia"/>
                <a:ea typeface="Georgia"/>
              </a:rPr>
              <a:t>24 / 7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0"/>
          <p:cNvSpPr/>
          <p:nvPr/>
        </p:nvSpPr>
        <p:spPr>
          <a:xfrm>
            <a:off x="9326880" y="4919400"/>
            <a:ext cx="2102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непрерывный мониторинг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0"/>
          <p:cNvSpPr/>
          <p:nvPr/>
        </p:nvSpPr>
        <p:spPr>
          <a:xfrm>
            <a:off x="457200" y="411480"/>
            <a:ext cx="72720" cy="292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 1"/>
          <p:cNvSpPr/>
          <p:nvPr/>
        </p:nvSpPr>
        <p:spPr>
          <a:xfrm>
            <a:off x="640080" y="384120"/>
            <a:ext cx="6400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01 · ПРОБЛЕМА И АКТУАЛЬНОСТЬ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"/>
          <p:cNvSpPr/>
          <p:nvPr/>
        </p:nvSpPr>
        <p:spPr>
          <a:xfrm>
            <a:off x="10911600" y="384120"/>
            <a:ext cx="822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04 / 17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3"/>
          <p:cNvSpPr/>
          <p:nvPr/>
        </p:nvSpPr>
        <p:spPr>
          <a:xfrm>
            <a:off x="457200" y="868680"/>
            <a:ext cx="11277000" cy="360"/>
          </a:xfrm>
          <a:prstGeom prst="line">
            <a:avLst/>
          </a:prstGeom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 4"/>
          <p:cNvSpPr/>
          <p:nvPr/>
        </p:nvSpPr>
        <p:spPr>
          <a:xfrm>
            <a:off x="45720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ИС мониторинга здания · Сейсмодатчики + ИИ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5"/>
          <p:cNvSpPr/>
          <p:nvPr/>
        </p:nvSpPr>
        <p:spPr>
          <a:xfrm>
            <a:off x="457200" y="1051560"/>
            <a:ext cx="11277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0a2540"/>
                </a:solidFill>
                <a:effectLst/>
                <a:uFillTx/>
                <a:latin typeface="Georgia"/>
                <a:ea typeface="Georgia"/>
              </a:rPr>
              <a:t>Цель и задачи проекта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6"/>
          <p:cNvSpPr/>
          <p:nvPr/>
        </p:nvSpPr>
        <p:spPr>
          <a:xfrm>
            <a:off x="640080" y="2468880"/>
            <a:ext cx="10972440" cy="1279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5" name="Image 0" descr="preencoded.png"/>
          <p:cNvPicPr/>
          <p:nvPr/>
        </p:nvPicPr>
        <p:blipFill>
          <a:blip r:embed="rId1"/>
          <a:stretch/>
        </p:blipFill>
        <p:spPr>
          <a:xfrm>
            <a:off x="868680" y="269748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ext 7"/>
          <p:cNvSpPr/>
          <p:nvPr/>
        </p:nvSpPr>
        <p:spPr>
          <a:xfrm>
            <a:off x="1554480" y="26060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ЦЕЛЬ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8"/>
          <p:cNvSpPr/>
          <p:nvPr/>
        </p:nvSpPr>
        <p:spPr>
          <a:xfrm>
            <a:off x="1554480" y="2880360"/>
            <a:ext cx="9692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Разработать ИС непрерывного сбора сейсмических данных со здания, их интеллектуальной интерпретации и оперативного оповещения инженера о потенциально опасных событиях.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9"/>
          <p:cNvSpPr/>
          <p:nvPr/>
        </p:nvSpPr>
        <p:spPr>
          <a:xfrm>
            <a:off x="640080" y="397764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ЗАДАЧИ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0"/>
          <p:cNvSpPr/>
          <p:nvPr/>
        </p:nvSpPr>
        <p:spPr>
          <a:xfrm>
            <a:off x="640080" y="4343400"/>
            <a:ext cx="383760" cy="383760"/>
          </a:xfrm>
          <a:prstGeom prst="ellipse">
            <a:avLst/>
          </a:prstGeom>
          <a:solidFill>
            <a:srgbClr val="f1f5f9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 11"/>
          <p:cNvSpPr/>
          <p:nvPr/>
        </p:nvSpPr>
        <p:spPr>
          <a:xfrm>
            <a:off x="640080" y="4343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a2540"/>
                </a:solidFill>
                <a:effectLst/>
                <a:uFillTx/>
                <a:latin typeface="Georgia"/>
                <a:ea typeface="Georgia"/>
              </a:rPr>
              <a:t>1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2"/>
          <p:cNvSpPr/>
          <p:nvPr/>
        </p:nvSpPr>
        <p:spPr>
          <a:xfrm>
            <a:off x="1143000" y="4343400"/>
            <a:ext cx="4937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Зафиксировать функциональные и нефункциональные требования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3"/>
          <p:cNvSpPr/>
          <p:nvPr/>
        </p:nvSpPr>
        <p:spPr>
          <a:xfrm>
            <a:off x="6309360" y="4343400"/>
            <a:ext cx="383760" cy="383760"/>
          </a:xfrm>
          <a:prstGeom prst="ellipse">
            <a:avLst/>
          </a:prstGeom>
          <a:solidFill>
            <a:srgbClr val="f1f5f9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 14"/>
          <p:cNvSpPr/>
          <p:nvPr/>
        </p:nvSpPr>
        <p:spPr>
          <a:xfrm>
            <a:off x="6309360" y="4343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a2540"/>
                </a:solidFill>
                <a:effectLst/>
                <a:uFillTx/>
                <a:latin typeface="Georgia"/>
                <a:ea typeface="Georgia"/>
              </a:rPr>
              <a:t>2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5"/>
          <p:cNvSpPr/>
          <p:nvPr/>
        </p:nvSpPr>
        <p:spPr>
          <a:xfrm>
            <a:off x="6812280" y="4343400"/>
            <a:ext cx="4937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Спроектировать архитектуру (UML, IDEF0, DFD)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6"/>
          <p:cNvSpPr/>
          <p:nvPr/>
        </p:nvSpPr>
        <p:spPr>
          <a:xfrm>
            <a:off x="640080" y="4892040"/>
            <a:ext cx="383760" cy="383760"/>
          </a:xfrm>
          <a:prstGeom prst="ellipse">
            <a:avLst/>
          </a:prstGeom>
          <a:solidFill>
            <a:srgbClr val="f1f5f9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 17"/>
          <p:cNvSpPr/>
          <p:nvPr/>
        </p:nvSpPr>
        <p:spPr>
          <a:xfrm>
            <a:off x="640080" y="48920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a2540"/>
                </a:solidFill>
                <a:effectLst/>
                <a:uFillTx/>
                <a:latin typeface="Georgia"/>
                <a:ea typeface="Georgia"/>
              </a:rPr>
              <a:t>3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8"/>
          <p:cNvSpPr/>
          <p:nvPr/>
        </p:nvSpPr>
        <p:spPr>
          <a:xfrm>
            <a:off x="1143000" y="4892040"/>
            <a:ext cx="4937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Разработать схему базы данных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9"/>
          <p:cNvSpPr/>
          <p:nvPr/>
        </p:nvSpPr>
        <p:spPr>
          <a:xfrm>
            <a:off x="6309360" y="4892040"/>
            <a:ext cx="383760" cy="383760"/>
          </a:xfrm>
          <a:prstGeom prst="ellipse">
            <a:avLst/>
          </a:prstGeom>
          <a:solidFill>
            <a:srgbClr val="f1f5f9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 20"/>
          <p:cNvSpPr/>
          <p:nvPr/>
        </p:nvSpPr>
        <p:spPr>
          <a:xfrm>
            <a:off x="6309360" y="48920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a2540"/>
                </a:solidFill>
                <a:effectLst/>
                <a:uFillTx/>
                <a:latin typeface="Georgia"/>
                <a:ea typeface="Georgia"/>
              </a:rPr>
              <a:t>4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1"/>
          <p:cNvSpPr/>
          <p:nvPr/>
        </p:nvSpPr>
        <p:spPr>
          <a:xfrm>
            <a:off x="6812280" y="4892040"/>
            <a:ext cx="4937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Реализовать прототип модулей на Python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2"/>
          <p:cNvSpPr/>
          <p:nvPr/>
        </p:nvSpPr>
        <p:spPr>
          <a:xfrm>
            <a:off x="640080" y="5440680"/>
            <a:ext cx="383760" cy="383760"/>
          </a:xfrm>
          <a:prstGeom prst="ellipse">
            <a:avLst/>
          </a:prstGeom>
          <a:solidFill>
            <a:srgbClr val="f1f5f9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 23"/>
          <p:cNvSpPr/>
          <p:nvPr/>
        </p:nvSpPr>
        <p:spPr>
          <a:xfrm>
            <a:off x="640080" y="54406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a2540"/>
                </a:solidFill>
                <a:effectLst/>
                <a:uFillTx/>
                <a:latin typeface="Georgia"/>
                <a:ea typeface="Georgia"/>
              </a:rPr>
              <a:t>5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4"/>
          <p:cNvSpPr/>
          <p:nvPr/>
        </p:nvSpPr>
        <p:spPr>
          <a:xfrm>
            <a:off x="1143000" y="5440680"/>
            <a:ext cx="4937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Выполнить тестирование (функц., произв., надёжность)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25"/>
          <p:cNvSpPr/>
          <p:nvPr/>
        </p:nvSpPr>
        <p:spPr>
          <a:xfrm>
            <a:off x="6309360" y="5440680"/>
            <a:ext cx="383760" cy="383760"/>
          </a:xfrm>
          <a:prstGeom prst="ellipse">
            <a:avLst/>
          </a:prstGeom>
          <a:solidFill>
            <a:srgbClr val="f1f5f9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 26"/>
          <p:cNvSpPr/>
          <p:nvPr/>
        </p:nvSpPr>
        <p:spPr>
          <a:xfrm>
            <a:off x="6309360" y="54406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a2540"/>
                </a:solidFill>
                <a:effectLst/>
                <a:uFillTx/>
                <a:latin typeface="Georgia"/>
                <a:ea typeface="Georgia"/>
              </a:rPr>
              <a:t>6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7"/>
          <p:cNvSpPr/>
          <p:nvPr/>
        </p:nvSpPr>
        <p:spPr>
          <a:xfrm>
            <a:off x="6812280" y="5440680"/>
            <a:ext cx="4937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Оценить соответствие реализации требованиям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0"/>
          <p:cNvSpPr/>
          <p:nvPr/>
        </p:nvSpPr>
        <p:spPr>
          <a:xfrm>
            <a:off x="457200" y="411480"/>
            <a:ext cx="72720" cy="292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 1"/>
          <p:cNvSpPr/>
          <p:nvPr/>
        </p:nvSpPr>
        <p:spPr>
          <a:xfrm>
            <a:off x="640080" y="384120"/>
            <a:ext cx="6400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02 · АНАЛИЗ ПРЕДМЕТНОЙ ОБЛАСТИ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"/>
          <p:cNvSpPr/>
          <p:nvPr/>
        </p:nvSpPr>
        <p:spPr>
          <a:xfrm>
            <a:off x="10911600" y="384120"/>
            <a:ext cx="822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05 / 17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3"/>
          <p:cNvSpPr/>
          <p:nvPr/>
        </p:nvSpPr>
        <p:spPr>
          <a:xfrm>
            <a:off x="457200" y="868680"/>
            <a:ext cx="11277000" cy="360"/>
          </a:xfrm>
          <a:prstGeom prst="line">
            <a:avLst/>
          </a:prstGeom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 4"/>
          <p:cNvSpPr/>
          <p:nvPr/>
        </p:nvSpPr>
        <p:spPr>
          <a:xfrm>
            <a:off x="45720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ИС мониторинга здания · Сейсмодатчики + ИИ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5"/>
          <p:cNvSpPr/>
          <p:nvPr/>
        </p:nvSpPr>
        <p:spPr>
          <a:xfrm>
            <a:off x="457200" y="1051560"/>
            <a:ext cx="11277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0a2540"/>
                </a:solidFill>
                <a:effectLst/>
                <a:uFillTx/>
                <a:latin typeface="Georgia"/>
                <a:ea typeface="Georgia"/>
              </a:rPr>
              <a:t>Процесс мониторинга AS-IS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6"/>
          <p:cNvSpPr/>
          <p:nvPr/>
        </p:nvSpPr>
        <p:spPr>
          <a:xfrm>
            <a:off x="457200" y="17830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Три уровня: физический → вычислительный → аналитический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7"/>
          <p:cNvSpPr/>
          <p:nvPr/>
        </p:nvSpPr>
        <p:spPr>
          <a:xfrm>
            <a:off x="594360" y="2926080"/>
            <a:ext cx="2148480" cy="310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Shape 8"/>
          <p:cNvSpPr/>
          <p:nvPr/>
        </p:nvSpPr>
        <p:spPr>
          <a:xfrm>
            <a:off x="594360" y="2926080"/>
            <a:ext cx="2148480" cy="727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6" name="Image 0" descr="preencoded.png"/>
          <p:cNvPicPr/>
          <p:nvPr/>
        </p:nvPicPr>
        <p:blipFill>
          <a:blip r:embed="rId1"/>
          <a:stretch/>
        </p:blipFill>
        <p:spPr>
          <a:xfrm>
            <a:off x="1348920" y="3246120"/>
            <a:ext cx="639720" cy="63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 9"/>
          <p:cNvSpPr/>
          <p:nvPr/>
        </p:nvSpPr>
        <p:spPr>
          <a:xfrm>
            <a:off x="594360" y="4023360"/>
            <a:ext cx="214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ШАГ 1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0"/>
          <p:cNvSpPr/>
          <p:nvPr/>
        </p:nvSpPr>
        <p:spPr>
          <a:xfrm>
            <a:off x="731520" y="4297680"/>
            <a:ext cx="1874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a2540"/>
                </a:solidFill>
                <a:effectLst/>
                <a:uFillTx/>
                <a:latin typeface="Calibri"/>
                <a:ea typeface="Calibri"/>
              </a:rPr>
              <a:t>Сбор данных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1"/>
          <p:cNvSpPr/>
          <p:nvPr/>
        </p:nvSpPr>
        <p:spPr>
          <a:xfrm>
            <a:off x="777240" y="4800600"/>
            <a:ext cx="17827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Съём с трёхосевых акселерометров в реальном времени, 50 Гц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2"/>
          <p:cNvSpPr/>
          <p:nvPr/>
        </p:nvSpPr>
        <p:spPr>
          <a:xfrm>
            <a:off x="2697480" y="4251960"/>
            <a:ext cx="255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›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3"/>
          <p:cNvSpPr/>
          <p:nvPr/>
        </p:nvSpPr>
        <p:spPr>
          <a:xfrm>
            <a:off x="2907720" y="2926080"/>
            <a:ext cx="2148480" cy="310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Shape 14"/>
          <p:cNvSpPr/>
          <p:nvPr/>
        </p:nvSpPr>
        <p:spPr>
          <a:xfrm>
            <a:off x="2907720" y="2926080"/>
            <a:ext cx="2148480" cy="72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3" name="Image 1" descr="preencoded.png"/>
          <p:cNvPicPr/>
          <p:nvPr/>
        </p:nvPicPr>
        <p:blipFill>
          <a:blip r:embed="rId2"/>
          <a:stretch/>
        </p:blipFill>
        <p:spPr>
          <a:xfrm>
            <a:off x="3662280" y="3246120"/>
            <a:ext cx="639720" cy="63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 15"/>
          <p:cNvSpPr/>
          <p:nvPr/>
        </p:nvSpPr>
        <p:spPr>
          <a:xfrm>
            <a:off x="2907720" y="4023360"/>
            <a:ext cx="214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ШАГ 2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6"/>
          <p:cNvSpPr/>
          <p:nvPr/>
        </p:nvSpPr>
        <p:spPr>
          <a:xfrm>
            <a:off x="3044880" y="4297680"/>
            <a:ext cx="1874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a2540"/>
                </a:solidFill>
                <a:effectLst/>
                <a:uFillTx/>
                <a:latin typeface="Calibri"/>
                <a:ea typeface="Calibri"/>
              </a:rPr>
              <a:t>Препроцессинг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7"/>
          <p:cNvSpPr/>
          <p:nvPr/>
        </p:nvSpPr>
        <p:spPr>
          <a:xfrm>
            <a:off x="3090600" y="4800600"/>
            <a:ext cx="17827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Очистка от шумов, нормализация, сегментация сигнала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8"/>
          <p:cNvSpPr/>
          <p:nvPr/>
        </p:nvSpPr>
        <p:spPr>
          <a:xfrm>
            <a:off x="5010840" y="4251960"/>
            <a:ext cx="255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›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9"/>
          <p:cNvSpPr/>
          <p:nvPr/>
        </p:nvSpPr>
        <p:spPr>
          <a:xfrm>
            <a:off x="5221080" y="2926080"/>
            <a:ext cx="2148480" cy="310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Shape 20"/>
          <p:cNvSpPr/>
          <p:nvPr/>
        </p:nvSpPr>
        <p:spPr>
          <a:xfrm>
            <a:off x="5221080" y="2926080"/>
            <a:ext cx="2148480" cy="72720"/>
          </a:xfrm>
          <a:prstGeom prst="rect">
            <a:avLst/>
          </a:prstGeom>
          <a:solidFill>
            <a:srgbClr val="12345b"/>
          </a:solidFill>
          <a:ln w="12700">
            <a:solidFill>
              <a:srgbClr val="1234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0" name="Image 2" descr="preencoded.png"/>
          <p:cNvPicPr/>
          <p:nvPr/>
        </p:nvPicPr>
        <p:blipFill>
          <a:blip r:embed="rId3"/>
          <a:stretch/>
        </p:blipFill>
        <p:spPr>
          <a:xfrm>
            <a:off x="5975640" y="3246120"/>
            <a:ext cx="639720" cy="63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Text 21"/>
          <p:cNvSpPr/>
          <p:nvPr/>
        </p:nvSpPr>
        <p:spPr>
          <a:xfrm>
            <a:off x="5221080" y="4023360"/>
            <a:ext cx="214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ШАГ 3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2"/>
          <p:cNvSpPr/>
          <p:nvPr/>
        </p:nvSpPr>
        <p:spPr>
          <a:xfrm>
            <a:off x="5358240" y="4297680"/>
            <a:ext cx="1874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a2540"/>
                </a:solidFill>
                <a:effectLst/>
                <a:uFillTx/>
                <a:latin typeface="Calibri"/>
                <a:ea typeface="Calibri"/>
              </a:rPr>
              <a:t>Передача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3"/>
          <p:cNvSpPr/>
          <p:nvPr/>
        </p:nvSpPr>
        <p:spPr>
          <a:xfrm>
            <a:off x="5403960" y="4800600"/>
            <a:ext cx="17827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Формирование пакетов и отправка на центральный узел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4"/>
          <p:cNvSpPr/>
          <p:nvPr/>
        </p:nvSpPr>
        <p:spPr>
          <a:xfrm>
            <a:off x="7324200" y="4251960"/>
            <a:ext cx="255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›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25"/>
          <p:cNvSpPr/>
          <p:nvPr/>
        </p:nvSpPr>
        <p:spPr>
          <a:xfrm>
            <a:off x="7534800" y="2926080"/>
            <a:ext cx="2148480" cy="310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Shape 26"/>
          <p:cNvSpPr/>
          <p:nvPr/>
        </p:nvSpPr>
        <p:spPr>
          <a:xfrm>
            <a:off x="7534800" y="2926080"/>
            <a:ext cx="2148480" cy="727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7" name="Image 3" descr="preencoded.png"/>
          <p:cNvPicPr/>
          <p:nvPr/>
        </p:nvPicPr>
        <p:blipFill>
          <a:blip r:embed="rId4"/>
          <a:stretch/>
        </p:blipFill>
        <p:spPr>
          <a:xfrm>
            <a:off x="8289000" y="3246120"/>
            <a:ext cx="639720" cy="63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Text 27"/>
          <p:cNvSpPr/>
          <p:nvPr/>
        </p:nvSpPr>
        <p:spPr>
          <a:xfrm>
            <a:off x="7534800" y="4023360"/>
            <a:ext cx="214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ШАГ 4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8"/>
          <p:cNvSpPr/>
          <p:nvPr/>
        </p:nvSpPr>
        <p:spPr>
          <a:xfrm>
            <a:off x="7671960" y="4297680"/>
            <a:ext cx="1874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a2540"/>
                </a:solidFill>
                <a:effectLst/>
                <a:uFillTx/>
                <a:latin typeface="Calibri"/>
                <a:ea typeface="Calibri"/>
              </a:rPr>
              <a:t>ИИ-анализ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9"/>
          <p:cNvSpPr/>
          <p:nvPr/>
        </p:nvSpPr>
        <p:spPr>
          <a:xfrm>
            <a:off x="7717680" y="4800600"/>
            <a:ext cx="17827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Классификация и локализация события через CNN/RNN и TDOA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30"/>
          <p:cNvSpPr/>
          <p:nvPr/>
        </p:nvSpPr>
        <p:spPr>
          <a:xfrm>
            <a:off x="9637920" y="4251960"/>
            <a:ext cx="255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›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31"/>
          <p:cNvSpPr/>
          <p:nvPr/>
        </p:nvSpPr>
        <p:spPr>
          <a:xfrm>
            <a:off x="9848160" y="2926080"/>
            <a:ext cx="2148480" cy="310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3" name="Shape 32"/>
          <p:cNvSpPr/>
          <p:nvPr/>
        </p:nvSpPr>
        <p:spPr>
          <a:xfrm>
            <a:off x="9848160" y="2926080"/>
            <a:ext cx="2148480" cy="72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4" name="Image 4" descr="preencoded.png"/>
          <p:cNvPicPr/>
          <p:nvPr/>
        </p:nvPicPr>
        <p:blipFill>
          <a:blip r:embed="rId5"/>
          <a:stretch/>
        </p:blipFill>
        <p:spPr>
          <a:xfrm>
            <a:off x="10602360" y="3246120"/>
            <a:ext cx="639720" cy="63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 33"/>
          <p:cNvSpPr/>
          <p:nvPr/>
        </p:nvSpPr>
        <p:spPr>
          <a:xfrm>
            <a:off x="9848160" y="4023360"/>
            <a:ext cx="214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ШАГ 5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34"/>
          <p:cNvSpPr/>
          <p:nvPr/>
        </p:nvSpPr>
        <p:spPr>
          <a:xfrm>
            <a:off x="9985320" y="4297680"/>
            <a:ext cx="1874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a2540"/>
                </a:solidFill>
                <a:effectLst/>
                <a:uFillTx/>
                <a:latin typeface="Calibri"/>
                <a:ea typeface="Calibri"/>
              </a:rPr>
              <a:t>Принятие решений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5"/>
          <p:cNvSpPr/>
          <p:nvPr/>
        </p:nvSpPr>
        <p:spPr>
          <a:xfrm>
            <a:off x="10031040" y="4800600"/>
            <a:ext cx="17827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Визуализация результатов, оповещение персонала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0"/>
          <p:cNvSpPr/>
          <p:nvPr/>
        </p:nvSpPr>
        <p:spPr>
          <a:xfrm>
            <a:off x="457200" y="411480"/>
            <a:ext cx="72720" cy="292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 1"/>
          <p:cNvSpPr/>
          <p:nvPr/>
        </p:nvSpPr>
        <p:spPr>
          <a:xfrm>
            <a:off x="640080" y="384120"/>
            <a:ext cx="6400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03 · ТРЕБОВАНИЯ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"/>
          <p:cNvSpPr/>
          <p:nvPr/>
        </p:nvSpPr>
        <p:spPr>
          <a:xfrm>
            <a:off x="10911600" y="384120"/>
            <a:ext cx="822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06 / 17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3"/>
          <p:cNvSpPr/>
          <p:nvPr/>
        </p:nvSpPr>
        <p:spPr>
          <a:xfrm>
            <a:off x="457200" y="868680"/>
            <a:ext cx="11277000" cy="360"/>
          </a:xfrm>
          <a:prstGeom prst="line">
            <a:avLst/>
          </a:prstGeom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 4"/>
          <p:cNvSpPr/>
          <p:nvPr/>
        </p:nvSpPr>
        <p:spPr>
          <a:xfrm>
            <a:off x="45720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ИС мониторинга здания · Сейсмодатчики + ИИ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5"/>
          <p:cNvSpPr/>
          <p:nvPr/>
        </p:nvSpPr>
        <p:spPr>
          <a:xfrm>
            <a:off x="457200" y="1051560"/>
            <a:ext cx="11277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0a2540"/>
                </a:solidFill>
                <a:effectLst/>
                <a:uFillTx/>
                <a:latin typeface="Georgia"/>
                <a:ea typeface="Georgia"/>
              </a:rPr>
              <a:t>Функциональные и нефункциональные требования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6"/>
          <p:cNvSpPr/>
          <p:nvPr/>
        </p:nvSpPr>
        <p:spPr>
          <a:xfrm>
            <a:off x="457200" y="17830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12 пунктов, отобранных и уточнённых на этапе анализа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7"/>
          <p:cNvSpPr/>
          <p:nvPr/>
        </p:nvSpPr>
        <p:spPr>
          <a:xfrm>
            <a:off x="640080" y="2468880"/>
            <a:ext cx="5394600" cy="402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Shape 8"/>
          <p:cNvSpPr/>
          <p:nvPr/>
        </p:nvSpPr>
        <p:spPr>
          <a:xfrm>
            <a:off x="640080" y="2468880"/>
            <a:ext cx="5394600" cy="5482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57" name="Image 0" descr="preencoded.png"/>
          <p:cNvPicPr/>
          <p:nvPr/>
        </p:nvPicPr>
        <p:blipFill>
          <a:blip r:embed="rId1"/>
          <a:stretch/>
        </p:blipFill>
        <p:spPr>
          <a:xfrm>
            <a:off x="822960" y="258768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Text 9"/>
          <p:cNvSpPr/>
          <p:nvPr/>
        </p:nvSpPr>
        <p:spPr>
          <a:xfrm>
            <a:off x="1234440" y="254196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ФУНКЦИОНАЛЬНЫЕ  (FR)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0"/>
          <p:cNvSpPr/>
          <p:nvPr/>
        </p:nvSpPr>
        <p:spPr>
          <a:xfrm>
            <a:off x="868680" y="3154680"/>
            <a:ext cx="868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FR-1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1"/>
          <p:cNvSpPr/>
          <p:nvPr/>
        </p:nvSpPr>
        <p:spPr>
          <a:xfrm>
            <a:off x="1737360" y="315468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Съём сигналов с акселерометров, 50 Гц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2"/>
          <p:cNvSpPr/>
          <p:nvPr/>
        </p:nvSpPr>
        <p:spPr>
          <a:xfrm>
            <a:off x="868680" y="3666600"/>
            <a:ext cx="868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FR-2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3"/>
          <p:cNvSpPr/>
          <p:nvPr/>
        </p:nvSpPr>
        <p:spPr>
          <a:xfrm>
            <a:off x="1737360" y="366660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Препроцессинг и фильтрация шумов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4"/>
          <p:cNvSpPr/>
          <p:nvPr/>
        </p:nvSpPr>
        <p:spPr>
          <a:xfrm>
            <a:off x="868680" y="4178880"/>
            <a:ext cx="868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FR-3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5"/>
          <p:cNvSpPr/>
          <p:nvPr/>
        </p:nvSpPr>
        <p:spPr>
          <a:xfrm>
            <a:off x="1737360" y="417888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Классификация события (CNN/RNN)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6"/>
          <p:cNvSpPr/>
          <p:nvPr/>
        </p:nvSpPr>
        <p:spPr>
          <a:xfrm>
            <a:off x="868680" y="4690800"/>
            <a:ext cx="868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FR-4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7"/>
          <p:cNvSpPr/>
          <p:nvPr/>
        </p:nvSpPr>
        <p:spPr>
          <a:xfrm>
            <a:off x="1737360" y="469080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Оценка риска по трём уровням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8"/>
          <p:cNvSpPr/>
          <p:nvPr/>
        </p:nvSpPr>
        <p:spPr>
          <a:xfrm>
            <a:off x="868680" y="5203080"/>
            <a:ext cx="868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FR-5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9"/>
          <p:cNvSpPr/>
          <p:nvPr/>
        </p:nvSpPr>
        <p:spPr>
          <a:xfrm>
            <a:off x="1737360" y="520308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Push-уведомление за ≤ 5 секунд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0"/>
          <p:cNvSpPr/>
          <p:nvPr/>
        </p:nvSpPr>
        <p:spPr>
          <a:xfrm>
            <a:off x="868680" y="5715000"/>
            <a:ext cx="868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FR-6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1"/>
          <p:cNvSpPr/>
          <p:nvPr/>
        </p:nvSpPr>
        <p:spPr>
          <a:xfrm>
            <a:off x="1737360" y="571500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Логирование событий в БД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22"/>
          <p:cNvSpPr/>
          <p:nvPr/>
        </p:nvSpPr>
        <p:spPr>
          <a:xfrm>
            <a:off x="6263640" y="2468880"/>
            <a:ext cx="5394600" cy="402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2" name="Shape 23"/>
          <p:cNvSpPr/>
          <p:nvPr/>
        </p:nvSpPr>
        <p:spPr>
          <a:xfrm>
            <a:off x="6263640" y="2468880"/>
            <a:ext cx="5394600" cy="5482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73" name="Image 1" descr="preencoded.png"/>
          <p:cNvPicPr/>
          <p:nvPr/>
        </p:nvPicPr>
        <p:blipFill>
          <a:blip r:embed="rId2"/>
          <a:stretch/>
        </p:blipFill>
        <p:spPr>
          <a:xfrm>
            <a:off x="6446520" y="258768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Text 24"/>
          <p:cNvSpPr/>
          <p:nvPr/>
        </p:nvSpPr>
        <p:spPr>
          <a:xfrm>
            <a:off x="6858000" y="254196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НЕФУНКЦИОНАЛЬНЫЕ  (NFR)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5"/>
          <p:cNvSpPr/>
          <p:nvPr/>
        </p:nvSpPr>
        <p:spPr>
          <a:xfrm>
            <a:off x="6492240" y="315468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NFR-1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6"/>
          <p:cNvSpPr/>
          <p:nvPr/>
        </p:nvSpPr>
        <p:spPr>
          <a:xfrm>
            <a:off x="7406640" y="315468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Обработка окна за ≤ 5 секунд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7"/>
          <p:cNvSpPr/>
          <p:nvPr/>
        </p:nvSpPr>
        <p:spPr>
          <a:xfrm>
            <a:off x="6492240" y="36666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NFR-2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8"/>
          <p:cNvSpPr/>
          <p:nvPr/>
        </p:nvSpPr>
        <p:spPr>
          <a:xfrm>
            <a:off x="7406640" y="366660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Непрерывный мониторинг 24/7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9"/>
          <p:cNvSpPr/>
          <p:nvPr/>
        </p:nvSpPr>
        <p:spPr>
          <a:xfrm>
            <a:off x="6492240" y="417888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NFR-3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0"/>
          <p:cNvSpPr/>
          <p:nvPr/>
        </p:nvSpPr>
        <p:spPr>
          <a:xfrm>
            <a:off x="7406640" y="417888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Масштабируемость от 3 до 10 узлов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31"/>
          <p:cNvSpPr/>
          <p:nvPr/>
        </p:nvSpPr>
        <p:spPr>
          <a:xfrm>
            <a:off x="6492240" y="46908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NFR-4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32"/>
          <p:cNvSpPr/>
          <p:nvPr/>
        </p:nvSpPr>
        <p:spPr>
          <a:xfrm>
            <a:off x="7406640" y="469080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Точность модели: F1-score ≥ 0,85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33"/>
          <p:cNvSpPr/>
          <p:nvPr/>
        </p:nvSpPr>
        <p:spPr>
          <a:xfrm>
            <a:off x="6492240" y="520308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NFR-5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34"/>
          <p:cNvSpPr/>
          <p:nvPr/>
        </p:nvSpPr>
        <p:spPr>
          <a:xfrm>
            <a:off x="7406640" y="520308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Совместимость с Ubuntu 22.04 + PyTorch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35"/>
          <p:cNvSpPr/>
          <p:nvPr/>
        </p:nvSpPr>
        <p:spPr>
          <a:xfrm>
            <a:off x="6492240" y="57150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NFR-6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6"/>
          <p:cNvSpPr/>
          <p:nvPr/>
        </p:nvSpPr>
        <p:spPr>
          <a:xfrm>
            <a:off x="7406640" y="571500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HAL-слой для замены датчиков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0"/>
          <p:cNvSpPr/>
          <p:nvPr/>
        </p:nvSpPr>
        <p:spPr>
          <a:xfrm>
            <a:off x="457200" y="411480"/>
            <a:ext cx="72720" cy="292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 1"/>
          <p:cNvSpPr/>
          <p:nvPr/>
        </p:nvSpPr>
        <p:spPr>
          <a:xfrm>
            <a:off x="640080" y="384120"/>
            <a:ext cx="6400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03 · ТРЕБОВАНИЯ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"/>
          <p:cNvSpPr/>
          <p:nvPr/>
        </p:nvSpPr>
        <p:spPr>
          <a:xfrm>
            <a:off x="10911600" y="384120"/>
            <a:ext cx="822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07 / 17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3"/>
          <p:cNvSpPr/>
          <p:nvPr/>
        </p:nvSpPr>
        <p:spPr>
          <a:xfrm>
            <a:off x="457200" y="868680"/>
            <a:ext cx="11277000" cy="360"/>
          </a:xfrm>
          <a:prstGeom prst="line">
            <a:avLst/>
          </a:prstGeom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 4"/>
          <p:cNvSpPr/>
          <p:nvPr/>
        </p:nvSpPr>
        <p:spPr>
          <a:xfrm>
            <a:off x="45720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ИС мониторинга здания · Сейсмодатчики + ИИ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5"/>
          <p:cNvSpPr/>
          <p:nvPr/>
        </p:nvSpPr>
        <p:spPr>
          <a:xfrm>
            <a:off x="457200" y="1051560"/>
            <a:ext cx="11277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0a2540"/>
                </a:solidFill>
                <a:effectLst/>
                <a:uFillTx/>
                <a:latin typeface="Georgia"/>
                <a:ea typeface="Georgia"/>
              </a:rPr>
              <a:t>Анализ требований по критериям качества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6"/>
          <p:cNvSpPr/>
          <p:nvPr/>
        </p:nvSpPr>
        <p:spPr>
          <a:xfrm>
            <a:off x="457200" y="17830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Примеры дефектов и их корректировок (всего проанализировано 10)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4" name="Table 0"/>
          <p:cNvGraphicFramePr/>
          <p:nvPr/>
        </p:nvGraphicFramePr>
        <p:xfrm>
          <a:off x="457200" y="2423160"/>
          <a:ext cx="11246760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3474720"/>
                <a:gridCol w="2743200"/>
                <a:gridCol w="3200400"/>
              </a:tblGrid>
              <a:tr h="502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Критерий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Исходное требование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Дефект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Корректировка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a2540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Непротиворечивость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Триангуляция источника по одному датчику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Невозможна по одной точке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Определять дистанцию по амплитуде затухания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Однозначность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Данные «достаточно чистые» для ИИ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Субъективно, нет метрики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SNR после вейвлет-очистки ≥ 15 дБ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Выполнимость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Точность на уровне профессиональных станций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Невыполнимо на бюджетном датчике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Применять Denoising Autoencoder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Необходимость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3D-модель здания с анимацией колебаний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Избыточно для текущей цели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Перенесено в версию 2.0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Проверяемость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ИИ должен работать эффективно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Эффективность неизмерима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F1-score ≥ 0,85 на тестовом наборе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5" name="Shape 7"/>
          <p:cNvSpPr/>
          <p:nvPr/>
        </p:nvSpPr>
        <p:spPr>
          <a:xfrm>
            <a:off x="457200" y="5989320"/>
            <a:ext cx="11246760" cy="5025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 8"/>
          <p:cNvSpPr/>
          <p:nvPr/>
        </p:nvSpPr>
        <p:spPr>
          <a:xfrm>
            <a:off x="685800" y="598932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Корректировка требований выявила необходимость замены бюджетного датчика на промышленный акселерометр для перехода к 3-узловой сети.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0"/>
          <p:cNvSpPr/>
          <p:nvPr/>
        </p:nvSpPr>
        <p:spPr>
          <a:xfrm>
            <a:off x="457200" y="411480"/>
            <a:ext cx="72720" cy="292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 1"/>
          <p:cNvSpPr/>
          <p:nvPr/>
        </p:nvSpPr>
        <p:spPr>
          <a:xfrm>
            <a:off x="640080" y="384120"/>
            <a:ext cx="6400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04 · АРХИТЕКТУРА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"/>
          <p:cNvSpPr/>
          <p:nvPr/>
        </p:nvSpPr>
        <p:spPr>
          <a:xfrm>
            <a:off x="10911600" y="384120"/>
            <a:ext cx="822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08 / 17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3"/>
          <p:cNvSpPr/>
          <p:nvPr/>
        </p:nvSpPr>
        <p:spPr>
          <a:xfrm>
            <a:off x="457200" y="868680"/>
            <a:ext cx="11277000" cy="360"/>
          </a:xfrm>
          <a:prstGeom prst="line">
            <a:avLst/>
          </a:prstGeom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 4"/>
          <p:cNvSpPr/>
          <p:nvPr/>
        </p:nvSpPr>
        <p:spPr>
          <a:xfrm>
            <a:off x="45720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ИС мониторинга здания · Сейсмодатчики + ИИ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5"/>
          <p:cNvSpPr/>
          <p:nvPr/>
        </p:nvSpPr>
        <p:spPr>
          <a:xfrm>
            <a:off x="457200" y="1051560"/>
            <a:ext cx="11277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0a2540"/>
                </a:solidFill>
                <a:effectLst/>
                <a:uFillTx/>
                <a:latin typeface="Georgia"/>
                <a:ea typeface="Georgia"/>
              </a:rPr>
              <a:t>Архитектура: диаграмма компонентов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6"/>
          <p:cNvSpPr/>
          <p:nvPr/>
        </p:nvSpPr>
        <p:spPr>
          <a:xfrm>
            <a:off x="457200" y="17830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Шесть модулей от съёма сигнала до уведомления инженера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7"/>
          <p:cNvSpPr/>
          <p:nvPr/>
        </p:nvSpPr>
        <p:spPr>
          <a:xfrm>
            <a:off x="457200" y="2514600"/>
            <a:ext cx="11246760" cy="16912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 8"/>
          <p:cNvSpPr/>
          <p:nvPr/>
        </p:nvSpPr>
        <p:spPr>
          <a:xfrm>
            <a:off x="594360" y="26060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4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EDGE  ·  ESP32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9"/>
          <p:cNvSpPr/>
          <p:nvPr/>
        </p:nvSpPr>
        <p:spPr>
          <a:xfrm>
            <a:off x="457200" y="4343400"/>
            <a:ext cx="11246760" cy="19198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 10"/>
          <p:cNvSpPr/>
          <p:nvPr/>
        </p:nvSpPr>
        <p:spPr>
          <a:xfrm>
            <a:off x="594360" y="443484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400" strike="noStrike" u="non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СЕРВЕР  ·  PYTHON + POSTGRESQL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1"/>
          <p:cNvSpPr/>
          <p:nvPr/>
        </p:nvSpPr>
        <p:spPr>
          <a:xfrm>
            <a:off x="1371600" y="3017520"/>
            <a:ext cx="4114440" cy="1005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09" name="Image 0" descr="preencoded.png"/>
          <p:cNvPicPr/>
          <p:nvPr/>
        </p:nvPicPr>
        <p:blipFill>
          <a:blip r:embed="rId1"/>
          <a:stretch/>
        </p:blipFill>
        <p:spPr>
          <a:xfrm>
            <a:off x="1554480" y="329184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Text 12"/>
          <p:cNvSpPr/>
          <p:nvPr/>
        </p:nvSpPr>
        <p:spPr>
          <a:xfrm>
            <a:off x="2148840" y="318204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a2540"/>
                </a:solidFill>
                <a:effectLst/>
                <a:uFillTx/>
                <a:latin typeface="Calibri"/>
                <a:ea typeface="Calibri"/>
              </a:rPr>
              <a:t>DAQ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3"/>
          <p:cNvSpPr/>
          <p:nvPr/>
        </p:nvSpPr>
        <p:spPr>
          <a:xfrm>
            <a:off x="2148840" y="352044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Сбор сигналов с акселерометра, 50 Гц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4"/>
          <p:cNvSpPr/>
          <p:nvPr/>
        </p:nvSpPr>
        <p:spPr>
          <a:xfrm>
            <a:off x="6400800" y="3017520"/>
            <a:ext cx="4114440" cy="1005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13" name="Image 1" descr="preencoded.png"/>
          <p:cNvPicPr/>
          <p:nvPr/>
        </p:nvPicPr>
        <p:blipFill>
          <a:blip r:embed="rId2"/>
          <a:stretch/>
        </p:blipFill>
        <p:spPr>
          <a:xfrm>
            <a:off x="6583680" y="329184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4" name="Text 15"/>
          <p:cNvSpPr/>
          <p:nvPr/>
        </p:nvSpPr>
        <p:spPr>
          <a:xfrm>
            <a:off x="7178040" y="318204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a2540"/>
                </a:solidFill>
                <a:effectLst/>
                <a:uFillTx/>
                <a:latin typeface="Calibri"/>
                <a:ea typeface="Calibri"/>
              </a:rPr>
              <a:t>DSP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6"/>
          <p:cNvSpPr/>
          <p:nvPr/>
        </p:nvSpPr>
        <p:spPr>
          <a:xfrm>
            <a:off x="7178040" y="352044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Цифровая фильтрация, оконные функции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7"/>
          <p:cNvSpPr/>
          <p:nvPr/>
        </p:nvSpPr>
        <p:spPr>
          <a:xfrm>
            <a:off x="731520" y="4937760"/>
            <a:ext cx="2605680" cy="1188360"/>
          </a:xfrm>
          <a:prstGeom prst="rect">
            <a:avLst/>
          </a:prstGeom>
          <a:solidFill>
            <a:srgbClr val="12345b"/>
          </a:solidFill>
          <a:ln w="12700">
            <a:solidFill>
              <a:srgbClr val="1234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7" name="Shape 18"/>
          <p:cNvSpPr/>
          <p:nvPr/>
        </p:nvSpPr>
        <p:spPr>
          <a:xfrm>
            <a:off x="731520" y="4937760"/>
            <a:ext cx="2605680" cy="45360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18" name="Image 2" descr="preencoded.png"/>
          <p:cNvPicPr/>
          <p:nvPr/>
        </p:nvPicPr>
        <p:blipFill>
          <a:blip r:embed="rId3"/>
          <a:stretch/>
        </p:blipFill>
        <p:spPr>
          <a:xfrm>
            <a:off x="868680" y="512064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" name="Text 19"/>
          <p:cNvSpPr/>
          <p:nvPr/>
        </p:nvSpPr>
        <p:spPr>
          <a:xfrm>
            <a:off x="1280160" y="5074920"/>
            <a:ext cx="1965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AI Engine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20"/>
          <p:cNvSpPr/>
          <p:nvPr/>
        </p:nvSpPr>
        <p:spPr>
          <a:xfrm>
            <a:off x="868680" y="557784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7e8f9"/>
                </a:solidFill>
                <a:effectLst/>
                <a:uFillTx/>
                <a:latin typeface="Calibri"/>
                <a:ea typeface="Calibri"/>
              </a:rPr>
              <a:t>CNN классификация события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21"/>
          <p:cNvSpPr/>
          <p:nvPr/>
        </p:nvSpPr>
        <p:spPr>
          <a:xfrm>
            <a:off x="3520440" y="4937760"/>
            <a:ext cx="2605680" cy="1188360"/>
          </a:xfrm>
          <a:prstGeom prst="rect">
            <a:avLst/>
          </a:prstGeom>
          <a:solidFill>
            <a:srgbClr val="12345b"/>
          </a:solidFill>
          <a:ln w="12700">
            <a:solidFill>
              <a:srgbClr val="1234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2" name="Shape 22"/>
          <p:cNvSpPr/>
          <p:nvPr/>
        </p:nvSpPr>
        <p:spPr>
          <a:xfrm>
            <a:off x="3520440" y="4937760"/>
            <a:ext cx="2605680" cy="45360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23" name="Image 3" descr="preencoded.png"/>
          <p:cNvPicPr/>
          <p:nvPr/>
        </p:nvPicPr>
        <p:blipFill>
          <a:blip r:embed="rId4"/>
          <a:stretch/>
        </p:blipFill>
        <p:spPr>
          <a:xfrm>
            <a:off x="3657600" y="512064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Text 23"/>
          <p:cNvSpPr/>
          <p:nvPr/>
        </p:nvSpPr>
        <p:spPr>
          <a:xfrm>
            <a:off x="4069080" y="5074920"/>
            <a:ext cx="1965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TDOA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24"/>
          <p:cNvSpPr/>
          <p:nvPr/>
        </p:nvSpPr>
        <p:spPr>
          <a:xfrm>
            <a:off x="3657600" y="557784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7e8f9"/>
                </a:solidFill>
                <a:effectLst/>
                <a:uFillTx/>
                <a:latin typeface="Calibri"/>
                <a:ea typeface="Calibri"/>
              </a:rPr>
              <a:t>Локализация источника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25"/>
          <p:cNvSpPr/>
          <p:nvPr/>
        </p:nvSpPr>
        <p:spPr>
          <a:xfrm>
            <a:off x="6309360" y="4937760"/>
            <a:ext cx="2605680" cy="1188360"/>
          </a:xfrm>
          <a:prstGeom prst="rect">
            <a:avLst/>
          </a:prstGeom>
          <a:solidFill>
            <a:srgbClr val="12345b"/>
          </a:solidFill>
          <a:ln w="12700">
            <a:solidFill>
              <a:srgbClr val="1234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7" name="Shape 26"/>
          <p:cNvSpPr/>
          <p:nvPr/>
        </p:nvSpPr>
        <p:spPr>
          <a:xfrm>
            <a:off x="6309360" y="4937760"/>
            <a:ext cx="2605680" cy="45360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28" name="Image 4" descr="preencoded.png"/>
          <p:cNvPicPr/>
          <p:nvPr/>
        </p:nvPicPr>
        <p:blipFill>
          <a:blip r:embed="rId5"/>
          <a:stretch/>
        </p:blipFill>
        <p:spPr>
          <a:xfrm>
            <a:off x="6446520" y="512064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Text 27"/>
          <p:cNvSpPr/>
          <p:nvPr/>
        </p:nvSpPr>
        <p:spPr>
          <a:xfrm>
            <a:off x="6858000" y="5074920"/>
            <a:ext cx="1965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Notifications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28"/>
          <p:cNvSpPr/>
          <p:nvPr/>
        </p:nvSpPr>
        <p:spPr>
          <a:xfrm>
            <a:off x="6446520" y="557784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7e8f9"/>
                </a:solidFill>
                <a:effectLst/>
                <a:uFillTx/>
                <a:latin typeface="Calibri"/>
                <a:ea typeface="Calibri"/>
              </a:rPr>
              <a:t>Push-уведомления инженеру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29"/>
          <p:cNvSpPr/>
          <p:nvPr/>
        </p:nvSpPr>
        <p:spPr>
          <a:xfrm>
            <a:off x="9098280" y="4937760"/>
            <a:ext cx="2605680" cy="1188360"/>
          </a:xfrm>
          <a:prstGeom prst="rect">
            <a:avLst/>
          </a:prstGeom>
          <a:solidFill>
            <a:srgbClr val="12345b"/>
          </a:solidFill>
          <a:ln w="12700">
            <a:solidFill>
              <a:srgbClr val="1234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2" name="Shape 30"/>
          <p:cNvSpPr/>
          <p:nvPr/>
        </p:nvSpPr>
        <p:spPr>
          <a:xfrm>
            <a:off x="9098280" y="4937760"/>
            <a:ext cx="2605680" cy="45360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33" name="Image 5" descr="preencoded.png"/>
          <p:cNvPicPr/>
          <p:nvPr/>
        </p:nvPicPr>
        <p:blipFill>
          <a:blip r:embed="rId6"/>
          <a:stretch/>
        </p:blipFill>
        <p:spPr>
          <a:xfrm>
            <a:off x="9235440" y="512064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4" name="Text 31"/>
          <p:cNvSpPr/>
          <p:nvPr/>
        </p:nvSpPr>
        <p:spPr>
          <a:xfrm>
            <a:off x="9646920" y="5074920"/>
            <a:ext cx="1965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Storage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32"/>
          <p:cNvSpPr/>
          <p:nvPr/>
        </p:nvSpPr>
        <p:spPr>
          <a:xfrm>
            <a:off x="9235440" y="557784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7e8f9"/>
                </a:solidFill>
                <a:effectLst/>
                <a:uFillTx/>
                <a:latin typeface="Calibri"/>
                <a:ea typeface="Calibri"/>
              </a:rPr>
              <a:t>Архив событий в БД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0"/>
          <p:cNvSpPr/>
          <p:nvPr/>
        </p:nvSpPr>
        <p:spPr>
          <a:xfrm>
            <a:off x="457200" y="411480"/>
            <a:ext cx="72720" cy="292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7" name="Text 1"/>
          <p:cNvSpPr/>
          <p:nvPr/>
        </p:nvSpPr>
        <p:spPr>
          <a:xfrm>
            <a:off x="640080" y="384120"/>
            <a:ext cx="6400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04 · АРХИТЕКТУРА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2"/>
          <p:cNvSpPr/>
          <p:nvPr/>
        </p:nvSpPr>
        <p:spPr>
          <a:xfrm>
            <a:off x="10911600" y="384120"/>
            <a:ext cx="822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09 / 17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3"/>
          <p:cNvSpPr/>
          <p:nvPr/>
        </p:nvSpPr>
        <p:spPr>
          <a:xfrm>
            <a:off x="457200" y="868680"/>
            <a:ext cx="11277000" cy="360"/>
          </a:xfrm>
          <a:prstGeom prst="line">
            <a:avLst/>
          </a:prstGeom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0" name="Text 4"/>
          <p:cNvSpPr/>
          <p:nvPr/>
        </p:nvSpPr>
        <p:spPr>
          <a:xfrm>
            <a:off x="45720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ИС мониторинга здания · Сейсмодатчики + ИИ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5"/>
          <p:cNvSpPr/>
          <p:nvPr/>
        </p:nvSpPr>
        <p:spPr>
          <a:xfrm>
            <a:off x="457200" y="1051560"/>
            <a:ext cx="11277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0a2540"/>
                </a:solidFill>
                <a:effectLst/>
                <a:uFillTx/>
                <a:latin typeface="Georgia"/>
                <a:ea typeface="Georgia"/>
              </a:rPr>
              <a:t>Основной сценарий использования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6"/>
          <p:cNvSpPr/>
          <p:nvPr/>
        </p:nvSpPr>
        <p:spPr>
          <a:xfrm>
            <a:off x="457200" y="17830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Триггер → Классификация → Уведомление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7"/>
          <p:cNvSpPr/>
          <p:nvPr/>
        </p:nvSpPr>
        <p:spPr>
          <a:xfrm>
            <a:off x="822960" y="2514600"/>
            <a:ext cx="360" cy="397764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4" name="Shape 8"/>
          <p:cNvSpPr/>
          <p:nvPr/>
        </p:nvSpPr>
        <p:spPr>
          <a:xfrm>
            <a:off x="676800" y="2560320"/>
            <a:ext cx="292320" cy="292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 9"/>
          <p:cNvSpPr/>
          <p:nvPr/>
        </p:nvSpPr>
        <p:spPr>
          <a:xfrm>
            <a:off x="676800" y="25603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0"/>
          <p:cNvSpPr/>
          <p:nvPr/>
        </p:nvSpPr>
        <p:spPr>
          <a:xfrm>
            <a:off x="1188720" y="251460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a2540"/>
                </a:solidFill>
                <a:effectLst/>
                <a:uFillTx/>
                <a:latin typeface="Calibri"/>
                <a:ea typeface="Calibri"/>
              </a:rPr>
              <a:t>Триггер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1"/>
          <p:cNvSpPr/>
          <p:nvPr/>
        </p:nvSpPr>
        <p:spPr>
          <a:xfrm>
            <a:off x="3931920" y="253296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Превышение фонового порога 0,005 g на одном из датчиков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2"/>
          <p:cNvSpPr/>
          <p:nvPr/>
        </p:nvSpPr>
        <p:spPr>
          <a:xfrm>
            <a:off x="676800" y="3227760"/>
            <a:ext cx="292320" cy="292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9" name="Text 13"/>
          <p:cNvSpPr/>
          <p:nvPr/>
        </p:nvSpPr>
        <p:spPr>
          <a:xfrm>
            <a:off x="676800" y="322776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4"/>
          <p:cNvSpPr/>
          <p:nvPr/>
        </p:nvSpPr>
        <p:spPr>
          <a:xfrm>
            <a:off x="1188720" y="318204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a2540"/>
                </a:solidFill>
                <a:effectLst/>
                <a:uFillTx/>
                <a:latin typeface="Calibri"/>
                <a:ea typeface="Calibri"/>
              </a:rPr>
              <a:t>Сбор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5"/>
          <p:cNvSpPr/>
          <p:nvPr/>
        </p:nvSpPr>
        <p:spPr>
          <a:xfrm>
            <a:off x="3931920" y="32004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Агрегация сигналов сети в единый временной ряд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16"/>
          <p:cNvSpPr/>
          <p:nvPr/>
        </p:nvSpPr>
        <p:spPr>
          <a:xfrm>
            <a:off x="676800" y="3895200"/>
            <a:ext cx="292320" cy="292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3" name="Text 17"/>
          <p:cNvSpPr/>
          <p:nvPr/>
        </p:nvSpPr>
        <p:spPr>
          <a:xfrm>
            <a:off x="676800" y="389520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8"/>
          <p:cNvSpPr/>
          <p:nvPr/>
        </p:nvSpPr>
        <p:spPr>
          <a:xfrm>
            <a:off x="1188720" y="384948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a2540"/>
                </a:solidFill>
                <a:effectLst/>
                <a:uFillTx/>
                <a:latin typeface="Calibri"/>
                <a:ea typeface="Calibri"/>
              </a:rPr>
              <a:t>Препроцессинг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9"/>
          <p:cNvSpPr/>
          <p:nvPr/>
        </p:nvSpPr>
        <p:spPr>
          <a:xfrm>
            <a:off x="3931920" y="386784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Удаление «белого шума» и техногенных помех (лифты, вентиляция)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20"/>
          <p:cNvSpPr/>
          <p:nvPr/>
        </p:nvSpPr>
        <p:spPr>
          <a:xfrm>
            <a:off x="676800" y="4563000"/>
            <a:ext cx="292320" cy="292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 21"/>
          <p:cNvSpPr/>
          <p:nvPr/>
        </p:nvSpPr>
        <p:spPr>
          <a:xfrm>
            <a:off x="676800" y="456300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2"/>
          <p:cNvSpPr/>
          <p:nvPr/>
        </p:nvSpPr>
        <p:spPr>
          <a:xfrm>
            <a:off x="1188720" y="451728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a2540"/>
                </a:solidFill>
                <a:effectLst/>
                <a:uFillTx/>
                <a:latin typeface="Calibri"/>
                <a:ea typeface="Calibri"/>
              </a:rPr>
              <a:t>ИИ-анализ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23"/>
          <p:cNvSpPr/>
          <p:nvPr/>
        </p:nvSpPr>
        <p:spPr>
          <a:xfrm>
            <a:off x="3931920" y="453528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Сравнение модальных параметров с эталонным «цифровым двойником»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24"/>
          <p:cNvSpPr/>
          <p:nvPr/>
        </p:nvSpPr>
        <p:spPr>
          <a:xfrm>
            <a:off x="676800" y="5230440"/>
            <a:ext cx="292320" cy="292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1" name="Text 25"/>
          <p:cNvSpPr/>
          <p:nvPr/>
        </p:nvSpPr>
        <p:spPr>
          <a:xfrm>
            <a:off x="676800" y="52304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26"/>
          <p:cNvSpPr/>
          <p:nvPr/>
        </p:nvSpPr>
        <p:spPr>
          <a:xfrm>
            <a:off x="1188720" y="518472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a2540"/>
                </a:solidFill>
                <a:effectLst/>
                <a:uFillTx/>
                <a:latin typeface="Calibri"/>
                <a:ea typeface="Calibri"/>
              </a:rPr>
              <a:t>Классификация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27"/>
          <p:cNvSpPr/>
          <p:nvPr/>
        </p:nvSpPr>
        <p:spPr>
          <a:xfrm>
            <a:off x="3931920" y="520308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Определение типа (сейсмика / ветер / транспорт / удар) и риска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28"/>
          <p:cNvSpPr/>
          <p:nvPr/>
        </p:nvSpPr>
        <p:spPr>
          <a:xfrm>
            <a:off x="676800" y="5897880"/>
            <a:ext cx="292320" cy="292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5" name="Text 29"/>
          <p:cNvSpPr/>
          <p:nvPr/>
        </p:nvSpPr>
        <p:spPr>
          <a:xfrm>
            <a:off x="676800" y="589788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30"/>
          <p:cNvSpPr/>
          <p:nvPr/>
        </p:nvSpPr>
        <p:spPr>
          <a:xfrm>
            <a:off x="1188720" y="58521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a2540"/>
                </a:solidFill>
                <a:effectLst/>
                <a:uFillTx/>
                <a:latin typeface="Calibri"/>
                <a:ea typeface="Calibri"/>
              </a:rPr>
              <a:t>Уведомление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31"/>
          <p:cNvSpPr/>
          <p:nvPr/>
        </p:nvSpPr>
        <p:spPr>
          <a:xfrm>
            <a:off x="3931920" y="5870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Push-сообщение инженеру: «Безопасно / Требуется осмотр / Критично»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0"/>
          <p:cNvSpPr/>
          <p:nvPr/>
        </p:nvSpPr>
        <p:spPr>
          <a:xfrm>
            <a:off x="457200" y="411480"/>
            <a:ext cx="72720" cy="292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9" name="Text 1"/>
          <p:cNvSpPr/>
          <p:nvPr/>
        </p:nvSpPr>
        <p:spPr>
          <a:xfrm>
            <a:off x="640080" y="384120"/>
            <a:ext cx="6400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04 · АРХИТЕКТУРА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2"/>
          <p:cNvSpPr/>
          <p:nvPr/>
        </p:nvSpPr>
        <p:spPr>
          <a:xfrm>
            <a:off x="10911600" y="384120"/>
            <a:ext cx="822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10 / 17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3"/>
          <p:cNvSpPr/>
          <p:nvPr/>
        </p:nvSpPr>
        <p:spPr>
          <a:xfrm>
            <a:off x="457200" y="868680"/>
            <a:ext cx="11277000" cy="360"/>
          </a:xfrm>
          <a:prstGeom prst="line">
            <a:avLst/>
          </a:prstGeom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2" name="Text 4"/>
          <p:cNvSpPr/>
          <p:nvPr/>
        </p:nvSpPr>
        <p:spPr>
          <a:xfrm>
            <a:off x="45720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ИС мониторинга здания · Сейсмодатчики + ИИ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5"/>
          <p:cNvSpPr/>
          <p:nvPr/>
        </p:nvSpPr>
        <p:spPr>
          <a:xfrm>
            <a:off x="457200" y="1051560"/>
            <a:ext cx="11277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0a2540"/>
                </a:solidFill>
                <a:effectLst/>
                <a:uFillTx/>
                <a:latin typeface="Georgia"/>
                <a:ea typeface="Georgia"/>
              </a:rPr>
              <a:t>Схема базы данных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6"/>
          <p:cNvSpPr/>
          <p:nvPr/>
        </p:nvSpPr>
        <p:spPr>
          <a:xfrm>
            <a:off x="457200" y="17830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7 сущностей в PostgreSQL: датчики, сигналы, события, уведомления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7"/>
          <p:cNvSpPr/>
          <p:nvPr/>
        </p:nvSpPr>
        <p:spPr>
          <a:xfrm>
            <a:off x="640080" y="2514600"/>
            <a:ext cx="2742840" cy="1325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6" name="Shape 8"/>
          <p:cNvSpPr/>
          <p:nvPr/>
        </p:nvSpPr>
        <p:spPr>
          <a:xfrm>
            <a:off x="640080" y="2514600"/>
            <a:ext cx="2742840" cy="1094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7" name="Text 9"/>
          <p:cNvSpPr/>
          <p:nvPr/>
        </p:nvSpPr>
        <p:spPr>
          <a:xfrm>
            <a:off x="822960" y="27432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a2540"/>
                </a:solidFill>
                <a:effectLst/>
                <a:uFillTx/>
                <a:latin typeface="Calibri"/>
                <a:ea typeface="Calibri"/>
              </a:rPr>
              <a:t>Sensor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0"/>
          <p:cNvSpPr/>
          <p:nvPr/>
        </p:nvSpPr>
        <p:spPr>
          <a:xfrm>
            <a:off x="822960" y="3154680"/>
            <a:ext cx="2377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e293b"/>
                </a:solidFill>
                <a:effectLst/>
                <a:uFillTx/>
                <a:latin typeface="Consolas"/>
                <a:ea typeface="Consolas"/>
              </a:rPr>
              <a:t>id · location · mac · status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11"/>
          <p:cNvSpPr/>
          <p:nvPr/>
        </p:nvSpPr>
        <p:spPr>
          <a:xfrm>
            <a:off x="3520440" y="2514600"/>
            <a:ext cx="2742840" cy="1325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0" name="Shape 12"/>
          <p:cNvSpPr/>
          <p:nvPr/>
        </p:nvSpPr>
        <p:spPr>
          <a:xfrm>
            <a:off x="3520440" y="2514600"/>
            <a:ext cx="2742840" cy="1094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1" name="Text 13"/>
          <p:cNvSpPr/>
          <p:nvPr/>
        </p:nvSpPr>
        <p:spPr>
          <a:xfrm>
            <a:off x="3703320" y="27432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a2540"/>
                </a:solidFill>
                <a:effectLst/>
                <a:uFillTx/>
                <a:latin typeface="Calibri"/>
                <a:ea typeface="Calibri"/>
              </a:rPr>
              <a:t>SignalSample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4"/>
          <p:cNvSpPr/>
          <p:nvPr/>
        </p:nvSpPr>
        <p:spPr>
          <a:xfrm>
            <a:off x="3703320" y="3154680"/>
            <a:ext cx="2377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e293b"/>
                </a:solidFill>
                <a:effectLst/>
                <a:uFillTx/>
                <a:latin typeface="Consolas"/>
                <a:ea typeface="Consolas"/>
              </a:rPr>
              <a:t>id · sensor_id · ts · accX/Y/Z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15"/>
          <p:cNvSpPr/>
          <p:nvPr/>
        </p:nvSpPr>
        <p:spPr>
          <a:xfrm>
            <a:off x="6400800" y="2514600"/>
            <a:ext cx="2742840" cy="1325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4" name="Shape 16"/>
          <p:cNvSpPr/>
          <p:nvPr/>
        </p:nvSpPr>
        <p:spPr>
          <a:xfrm>
            <a:off x="6400800" y="2514600"/>
            <a:ext cx="2742840" cy="109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5" name="Text 17"/>
          <p:cNvSpPr/>
          <p:nvPr/>
        </p:nvSpPr>
        <p:spPr>
          <a:xfrm>
            <a:off x="6583680" y="27432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a2540"/>
                </a:solidFill>
                <a:effectLst/>
                <a:uFillTx/>
                <a:latin typeface="Calibri"/>
                <a:ea typeface="Calibri"/>
              </a:rPr>
              <a:t>Event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8"/>
          <p:cNvSpPr/>
          <p:nvPr/>
        </p:nvSpPr>
        <p:spPr>
          <a:xfrm>
            <a:off x="6583680" y="3154680"/>
            <a:ext cx="2377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e293b"/>
                </a:solidFill>
                <a:effectLst/>
                <a:uFillTx/>
                <a:latin typeface="Consolas"/>
                <a:ea typeface="Consolas"/>
              </a:rPr>
              <a:t>id · type · amplitude · risk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19"/>
          <p:cNvSpPr/>
          <p:nvPr/>
        </p:nvSpPr>
        <p:spPr>
          <a:xfrm>
            <a:off x="9281160" y="2514600"/>
            <a:ext cx="2742840" cy="1325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8" name="Shape 20"/>
          <p:cNvSpPr/>
          <p:nvPr/>
        </p:nvSpPr>
        <p:spPr>
          <a:xfrm>
            <a:off x="9281160" y="2514600"/>
            <a:ext cx="2742840" cy="109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9" name="Text 21"/>
          <p:cNvSpPr/>
          <p:nvPr/>
        </p:nvSpPr>
        <p:spPr>
          <a:xfrm>
            <a:off x="9464040" y="27432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a2540"/>
                </a:solidFill>
                <a:effectLst/>
                <a:uFillTx/>
                <a:latin typeface="Calibri"/>
                <a:ea typeface="Calibri"/>
              </a:rPr>
              <a:t>EventSample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22"/>
          <p:cNvSpPr/>
          <p:nvPr/>
        </p:nvSpPr>
        <p:spPr>
          <a:xfrm>
            <a:off x="9464040" y="3154680"/>
            <a:ext cx="2377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e293b"/>
                </a:solidFill>
                <a:effectLst/>
                <a:uFillTx/>
                <a:latin typeface="Consolas"/>
                <a:ea typeface="Consolas"/>
              </a:rPr>
              <a:t>event_id · sample_id  (N:M)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23"/>
          <p:cNvSpPr/>
          <p:nvPr/>
        </p:nvSpPr>
        <p:spPr>
          <a:xfrm>
            <a:off x="640080" y="4069080"/>
            <a:ext cx="2742840" cy="1325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2" name="Shape 24"/>
          <p:cNvSpPr/>
          <p:nvPr/>
        </p:nvSpPr>
        <p:spPr>
          <a:xfrm>
            <a:off x="640080" y="4069080"/>
            <a:ext cx="2742840" cy="109440"/>
          </a:xfrm>
          <a:prstGeom prst="rect">
            <a:avLst/>
          </a:prstGeom>
          <a:solidFill>
            <a:srgbClr val="12345b"/>
          </a:solidFill>
          <a:ln w="12700">
            <a:solidFill>
              <a:srgbClr val="1234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3" name="Text 25"/>
          <p:cNvSpPr/>
          <p:nvPr/>
        </p:nvSpPr>
        <p:spPr>
          <a:xfrm>
            <a:off x="822960" y="429768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a2540"/>
                </a:solidFill>
                <a:effectLst/>
                <a:uFillTx/>
                <a:latin typeface="Calibri"/>
                <a:ea typeface="Calibri"/>
              </a:rPr>
              <a:t>Notification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26"/>
          <p:cNvSpPr/>
          <p:nvPr/>
        </p:nvSpPr>
        <p:spPr>
          <a:xfrm>
            <a:off x="822960" y="4709160"/>
            <a:ext cx="2377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e293b"/>
                </a:solidFill>
                <a:effectLst/>
                <a:uFillTx/>
                <a:latin typeface="Consolas"/>
                <a:ea typeface="Consolas"/>
              </a:rPr>
              <a:t>id · event_id · sent_at · delivered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27"/>
          <p:cNvSpPr/>
          <p:nvPr/>
        </p:nvSpPr>
        <p:spPr>
          <a:xfrm>
            <a:off x="3520440" y="4069080"/>
            <a:ext cx="2742840" cy="1325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6" name="Shape 28"/>
          <p:cNvSpPr/>
          <p:nvPr/>
        </p:nvSpPr>
        <p:spPr>
          <a:xfrm>
            <a:off x="3520440" y="4069080"/>
            <a:ext cx="2742840" cy="109440"/>
          </a:xfrm>
          <a:prstGeom prst="rect">
            <a:avLst/>
          </a:prstGeom>
          <a:solidFill>
            <a:srgbClr val="12345b"/>
          </a:solidFill>
          <a:ln w="12700">
            <a:solidFill>
              <a:srgbClr val="1234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7" name="Text 29"/>
          <p:cNvSpPr/>
          <p:nvPr/>
        </p:nvSpPr>
        <p:spPr>
          <a:xfrm>
            <a:off x="3703320" y="429768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a2540"/>
                </a:solidFill>
                <a:effectLst/>
                <a:uFillTx/>
                <a:latin typeface="Calibri"/>
                <a:ea typeface="Calibri"/>
              </a:rPr>
              <a:t>Engineer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30"/>
          <p:cNvSpPr/>
          <p:nvPr/>
        </p:nvSpPr>
        <p:spPr>
          <a:xfrm>
            <a:off x="3703320" y="4709160"/>
            <a:ext cx="2377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e293b"/>
                </a:solidFill>
                <a:effectLst/>
                <a:uFillTx/>
                <a:latin typeface="Consolas"/>
                <a:ea typeface="Consolas"/>
              </a:rPr>
              <a:t>id · name · email · push_token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31"/>
          <p:cNvSpPr/>
          <p:nvPr/>
        </p:nvSpPr>
        <p:spPr>
          <a:xfrm>
            <a:off x="6400800" y="4069080"/>
            <a:ext cx="2742840" cy="1325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0" name="Shape 32"/>
          <p:cNvSpPr/>
          <p:nvPr/>
        </p:nvSpPr>
        <p:spPr>
          <a:xfrm>
            <a:off x="6400800" y="4069080"/>
            <a:ext cx="2742840" cy="109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1" name="Text 33"/>
          <p:cNvSpPr/>
          <p:nvPr/>
        </p:nvSpPr>
        <p:spPr>
          <a:xfrm>
            <a:off x="6583680" y="429768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a2540"/>
                </a:solidFill>
                <a:effectLst/>
                <a:uFillTx/>
                <a:latin typeface="Calibri"/>
                <a:ea typeface="Calibri"/>
              </a:rPr>
              <a:t>ModelVersion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34"/>
          <p:cNvSpPr/>
          <p:nvPr/>
        </p:nvSpPr>
        <p:spPr>
          <a:xfrm>
            <a:off x="6583680" y="4709160"/>
            <a:ext cx="2377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e293b"/>
                </a:solidFill>
                <a:effectLst/>
                <a:uFillTx/>
                <a:latin typeface="Consolas"/>
                <a:ea typeface="Consolas"/>
              </a:rPr>
              <a:t>id · name · f1_score · active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35"/>
          <p:cNvSpPr/>
          <p:nvPr/>
        </p:nvSpPr>
        <p:spPr>
          <a:xfrm>
            <a:off x="640080" y="608076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Связи: Sensor 1:N SignalSample · Event N:M SignalSample · Event 1:N Notification · Engineer 1:N Notification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Shape 0"/>
          <p:cNvSpPr/>
          <p:nvPr/>
        </p:nvSpPr>
        <p:spPr>
          <a:xfrm>
            <a:off x="457200" y="411480"/>
            <a:ext cx="72720" cy="292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5" name="Text 1"/>
          <p:cNvSpPr/>
          <p:nvPr/>
        </p:nvSpPr>
        <p:spPr>
          <a:xfrm>
            <a:off x="640080" y="384120"/>
            <a:ext cx="6400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05 · РЕАЛИЗАЦИЯ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2"/>
          <p:cNvSpPr/>
          <p:nvPr/>
        </p:nvSpPr>
        <p:spPr>
          <a:xfrm>
            <a:off x="10911600" y="384120"/>
            <a:ext cx="822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11 / 17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3"/>
          <p:cNvSpPr/>
          <p:nvPr/>
        </p:nvSpPr>
        <p:spPr>
          <a:xfrm>
            <a:off x="457200" y="868680"/>
            <a:ext cx="11277000" cy="360"/>
          </a:xfrm>
          <a:prstGeom prst="line">
            <a:avLst/>
          </a:prstGeom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8" name="Text 4"/>
          <p:cNvSpPr/>
          <p:nvPr/>
        </p:nvSpPr>
        <p:spPr>
          <a:xfrm>
            <a:off x="45720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ИС мониторинга здания · Сейсмодатчики + ИИ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5"/>
          <p:cNvSpPr/>
          <p:nvPr/>
        </p:nvSpPr>
        <p:spPr>
          <a:xfrm>
            <a:off x="457200" y="1051560"/>
            <a:ext cx="11277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0a2540"/>
                </a:solidFill>
                <a:effectLst/>
                <a:uFillTx/>
                <a:latin typeface="Georgia"/>
                <a:ea typeface="Georgia"/>
              </a:rPr>
              <a:t>Технологический стек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6"/>
          <p:cNvSpPr/>
          <p:nvPr/>
        </p:nvSpPr>
        <p:spPr>
          <a:xfrm>
            <a:off x="457200" y="17830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7"/>
          <p:cNvSpPr/>
          <p:nvPr/>
        </p:nvSpPr>
        <p:spPr>
          <a:xfrm>
            <a:off x="640080" y="2514600"/>
            <a:ext cx="3657240" cy="365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2" name="Shape 8"/>
          <p:cNvSpPr/>
          <p:nvPr/>
        </p:nvSpPr>
        <p:spPr>
          <a:xfrm>
            <a:off x="640080" y="2514600"/>
            <a:ext cx="72720" cy="365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3" name="Shape 9"/>
          <p:cNvSpPr/>
          <p:nvPr/>
        </p:nvSpPr>
        <p:spPr>
          <a:xfrm>
            <a:off x="960120" y="2788920"/>
            <a:ext cx="639720" cy="6397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14" name="Image 0" descr="preencoded.png"/>
          <p:cNvPicPr/>
          <p:nvPr/>
        </p:nvPicPr>
        <p:blipFill>
          <a:blip r:embed="rId1"/>
          <a:stretch/>
        </p:blipFill>
        <p:spPr>
          <a:xfrm>
            <a:off x="1097280" y="2926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5" name="Text 10"/>
          <p:cNvSpPr/>
          <p:nvPr/>
        </p:nvSpPr>
        <p:spPr>
          <a:xfrm>
            <a:off x="1737360" y="288036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a2540"/>
                </a:solidFill>
                <a:effectLst/>
                <a:uFillTx/>
                <a:latin typeface="Georgia"/>
                <a:ea typeface="Georgia"/>
              </a:rPr>
              <a:t>Edge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1"/>
          <p:cNvSpPr/>
          <p:nvPr/>
        </p:nvSpPr>
        <p:spPr>
          <a:xfrm>
            <a:off x="1005840" y="370332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a2540"/>
                </a:solidFill>
                <a:effectLst/>
                <a:uFillTx/>
                <a:latin typeface="Calibri"/>
                <a:ea typeface="Calibri"/>
              </a:rPr>
              <a:t>ESP32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2"/>
          <p:cNvSpPr/>
          <p:nvPr/>
        </p:nvSpPr>
        <p:spPr>
          <a:xfrm>
            <a:off x="1005840" y="402336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Микроконтроллер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3"/>
          <p:cNvSpPr/>
          <p:nvPr/>
        </p:nvSpPr>
        <p:spPr>
          <a:xfrm>
            <a:off x="1005840" y="448056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a2540"/>
                </a:solidFill>
                <a:effectLst/>
                <a:uFillTx/>
                <a:latin typeface="Calibri"/>
                <a:ea typeface="Calibri"/>
              </a:rPr>
              <a:t>C / Arduino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4"/>
          <p:cNvSpPr/>
          <p:nvPr/>
        </p:nvSpPr>
        <p:spPr>
          <a:xfrm>
            <a:off x="1005840" y="480060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Прошивка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5"/>
          <p:cNvSpPr/>
          <p:nvPr/>
        </p:nvSpPr>
        <p:spPr>
          <a:xfrm>
            <a:off x="1005840" y="525780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a2540"/>
                </a:solidFill>
                <a:effectLst/>
                <a:uFillTx/>
                <a:latin typeface="Calibri"/>
                <a:ea typeface="Calibri"/>
              </a:rPr>
              <a:t>Bluetooth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6"/>
          <p:cNvSpPr/>
          <p:nvPr/>
        </p:nvSpPr>
        <p:spPr>
          <a:xfrm>
            <a:off x="1005840" y="557784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Передача данных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17"/>
          <p:cNvSpPr/>
          <p:nvPr/>
        </p:nvSpPr>
        <p:spPr>
          <a:xfrm>
            <a:off x="4434840" y="2514600"/>
            <a:ext cx="3657240" cy="365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3" name="Shape 18"/>
          <p:cNvSpPr/>
          <p:nvPr/>
        </p:nvSpPr>
        <p:spPr>
          <a:xfrm>
            <a:off x="4434840" y="2514600"/>
            <a:ext cx="72720" cy="365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4" name="Shape 19"/>
          <p:cNvSpPr/>
          <p:nvPr/>
        </p:nvSpPr>
        <p:spPr>
          <a:xfrm>
            <a:off x="4754880" y="2788920"/>
            <a:ext cx="639720" cy="63972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25" name="Image 1" descr="preencoded.png"/>
          <p:cNvPicPr/>
          <p:nvPr/>
        </p:nvPicPr>
        <p:blipFill>
          <a:blip r:embed="rId2"/>
          <a:stretch/>
        </p:blipFill>
        <p:spPr>
          <a:xfrm>
            <a:off x="4892040" y="2926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6" name="Text 20"/>
          <p:cNvSpPr/>
          <p:nvPr/>
        </p:nvSpPr>
        <p:spPr>
          <a:xfrm>
            <a:off x="5532120" y="288036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a2540"/>
                </a:solidFill>
                <a:effectLst/>
                <a:uFillTx/>
                <a:latin typeface="Georgia"/>
                <a:ea typeface="Georgia"/>
              </a:rPr>
              <a:t>Backend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21"/>
          <p:cNvSpPr/>
          <p:nvPr/>
        </p:nvSpPr>
        <p:spPr>
          <a:xfrm>
            <a:off x="4800600" y="370332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a2540"/>
                </a:solidFill>
                <a:effectLst/>
                <a:uFillTx/>
                <a:latin typeface="Calibri"/>
                <a:ea typeface="Calibri"/>
              </a:rPr>
              <a:t>Python 3.10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22"/>
          <p:cNvSpPr/>
          <p:nvPr/>
        </p:nvSpPr>
        <p:spPr>
          <a:xfrm>
            <a:off x="4800600" y="402336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Серверная логика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23"/>
          <p:cNvSpPr/>
          <p:nvPr/>
        </p:nvSpPr>
        <p:spPr>
          <a:xfrm>
            <a:off x="4800600" y="448056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a2540"/>
                </a:solidFill>
                <a:effectLst/>
                <a:uFillTx/>
                <a:latin typeface="Calibri"/>
                <a:ea typeface="Calibri"/>
              </a:rPr>
              <a:t>PyTorch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24"/>
          <p:cNvSpPr/>
          <p:nvPr/>
        </p:nvSpPr>
        <p:spPr>
          <a:xfrm>
            <a:off x="4800600" y="480060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CNN классификатор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25"/>
          <p:cNvSpPr/>
          <p:nvPr/>
        </p:nvSpPr>
        <p:spPr>
          <a:xfrm>
            <a:off x="4800600" y="525780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a2540"/>
                </a:solidFill>
                <a:effectLst/>
                <a:uFillTx/>
                <a:latin typeface="Calibri"/>
                <a:ea typeface="Calibri"/>
              </a:rPr>
              <a:t>NumPy / SciPy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26"/>
          <p:cNvSpPr/>
          <p:nvPr/>
        </p:nvSpPr>
        <p:spPr>
          <a:xfrm>
            <a:off x="4800600" y="557784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DSP и спектр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27"/>
          <p:cNvSpPr/>
          <p:nvPr/>
        </p:nvSpPr>
        <p:spPr>
          <a:xfrm>
            <a:off x="8229600" y="2514600"/>
            <a:ext cx="3657240" cy="365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4" name="Shape 28"/>
          <p:cNvSpPr/>
          <p:nvPr/>
        </p:nvSpPr>
        <p:spPr>
          <a:xfrm>
            <a:off x="8229600" y="2514600"/>
            <a:ext cx="72720" cy="365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5" name="Shape 29"/>
          <p:cNvSpPr/>
          <p:nvPr/>
        </p:nvSpPr>
        <p:spPr>
          <a:xfrm>
            <a:off x="8549640" y="2788920"/>
            <a:ext cx="639720" cy="6397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36" name="Image 2" descr="preencoded.png"/>
          <p:cNvPicPr/>
          <p:nvPr/>
        </p:nvPicPr>
        <p:blipFill>
          <a:blip r:embed="rId3"/>
          <a:stretch/>
        </p:blipFill>
        <p:spPr>
          <a:xfrm>
            <a:off x="8686800" y="2926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7" name="Text 30"/>
          <p:cNvSpPr/>
          <p:nvPr/>
        </p:nvSpPr>
        <p:spPr>
          <a:xfrm>
            <a:off x="9326880" y="288036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a2540"/>
                </a:solidFill>
                <a:effectLst/>
                <a:uFillTx/>
                <a:latin typeface="Georgia"/>
                <a:ea typeface="Georgia"/>
              </a:rPr>
              <a:t>Хранение / UX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31"/>
          <p:cNvSpPr/>
          <p:nvPr/>
        </p:nvSpPr>
        <p:spPr>
          <a:xfrm>
            <a:off x="8595360" y="370332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a2540"/>
                </a:solidFill>
                <a:effectLst/>
                <a:uFillTx/>
                <a:latin typeface="Calibri"/>
                <a:ea typeface="Calibri"/>
              </a:rPr>
              <a:t>PostgreSQL 14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32"/>
          <p:cNvSpPr/>
          <p:nvPr/>
        </p:nvSpPr>
        <p:spPr>
          <a:xfrm>
            <a:off x="8595360" y="402336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Архив событий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33"/>
          <p:cNvSpPr/>
          <p:nvPr/>
        </p:nvSpPr>
        <p:spPr>
          <a:xfrm>
            <a:off x="8595360" y="448056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a2540"/>
                </a:solidFill>
                <a:effectLst/>
                <a:uFillTx/>
                <a:latin typeface="Calibri"/>
                <a:ea typeface="Calibri"/>
              </a:rPr>
              <a:t>Firebase FCM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34"/>
          <p:cNvSpPr/>
          <p:nvPr/>
        </p:nvSpPr>
        <p:spPr>
          <a:xfrm>
            <a:off x="8595360" y="480060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Push-уведомления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35"/>
          <p:cNvSpPr/>
          <p:nvPr/>
        </p:nvSpPr>
        <p:spPr>
          <a:xfrm>
            <a:off x="8595360" y="525780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a2540"/>
                </a:solidFill>
                <a:effectLst/>
                <a:uFillTx/>
                <a:latin typeface="Calibri"/>
                <a:ea typeface="Calibri"/>
              </a:rPr>
              <a:t>OpenCV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36"/>
          <p:cNvSpPr/>
          <p:nvPr/>
        </p:nvSpPr>
        <p:spPr>
          <a:xfrm>
            <a:off x="8595360" y="557784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Видеоверификация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Shape 0"/>
          <p:cNvSpPr/>
          <p:nvPr/>
        </p:nvSpPr>
        <p:spPr>
          <a:xfrm>
            <a:off x="457200" y="411480"/>
            <a:ext cx="72720" cy="292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5" name="Text 1"/>
          <p:cNvSpPr/>
          <p:nvPr/>
        </p:nvSpPr>
        <p:spPr>
          <a:xfrm>
            <a:off x="640080" y="384120"/>
            <a:ext cx="6400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05 · РЕАЛИЗАЦИЯ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2"/>
          <p:cNvSpPr/>
          <p:nvPr/>
        </p:nvSpPr>
        <p:spPr>
          <a:xfrm>
            <a:off x="10911600" y="384120"/>
            <a:ext cx="822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12 / 17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3"/>
          <p:cNvSpPr/>
          <p:nvPr/>
        </p:nvSpPr>
        <p:spPr>
          <a:xfrm>
            <a:off x="457200" y="868680"/>
            <a:ext cx="11277000" cy="360"/>
          </a:xfrm>
          <a:prstGeom prst="line">
            <a:avLst/>
          </a:prstGeom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8" name="Text 4"/>
          <p:cNvSpPr/>
          <p:nvPr/>
        </p:nvSpPr>
        <p:spPr>
          <a:xfrm>
            <a:off x="45720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ИС мониторинга здания · Сейсмодатчики + ИИ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5"/>
          <p:cNvSpPr/>
          <p:nvPr/>
        </p:nvSpPr>
        <p:spPr>
          <a:xfrm>
            <a:off x="457200" y="1051560"/>
            <a:ext cx="11277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0a2540"/>
                </a:solidFill>
                <a:effectLst/>
                <a:uFillTx/>
                <a:latin typeface="Georgia"/>
                <a:ea typeface="Georgia"/>
              </a:rPr>
              <a:t>Модуль сбора данных (DAQ)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6"/>
          <p:cNvSpPr/>
          <p:nvPr/>
        </p:nvSpPr>
        <p:spPr>
          <a:xfrm>
            <a:off x="457200" y="17830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Python-приёмник по Bluetooth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7"/>
          <p:cNvSpPr/>
          <p:nvPr/>
        </p:nvSpPr>
        <p:spPr>
          <a:xfrm>
            <a:off x="640080" y="2606040"/>
            <a:ext cx="200880" cy="200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2" name="Text 8"/>
          <p:cNvSpPr/>
          <p:nvPr/>
        </p:nvSpPr>
        <p:spPr>
          <a:xfrm>
            <a:off x="914400" y="251460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a2540"/>
                </a:solidFill>
                <a:effectLst/>
                <a:uFillTx/>
                <a:latin typeface="Calibri"/>
                <a:ea typeface="Calibri"/>
              </a:rPr>
              <a:t>5 колонок данных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9"/>
          <p:cNvSpPr/>
          <p:nvPr/>
        </p:nvSpPr>
        <p:spPr>
          <a:xfrm>
            <a:off x="914400" y="288036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esp_time · accX · accY · accZ · shake_force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10"/>
          <p:cNvSpPr/>
          <p:nvPr/>
        </p:nvSpPr>
        <p:spPr>
          <a:xfrm>
            <a:off x="640080" y="3474720"/>
            <a:ext cx="200880" cy="200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5" name="Text 11"/>
          <p:cNvSpPr/>
          <p:nvPr/>
        </p:nvSpPr>
        <p:spPr>
          <a:xfrm>
            <a:off x="914400" y="338328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a2540"/>
                </a:solidFill>
                <a:effectLst/>
                <a:uFillTx/>
                <a:latin typeface="Calibri"/>
                <a:ea typeface="Calibri"/>
              </a:rPr>
              <a:t>Частота 50 Гц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2"/>
          <p:cNvSpPr/>
          <p:nvPr/>
        </p:nvSpPr>
        <p:spPr>
          <a:xfrm>
            <a:off x="914400" y="374904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ожидаемый шаг 20 мс между сэмплами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13"/>
          <p:cNvSpPr/>
          <p:nvPr/>
        </p:nvSpPr>
        <p:spPr>
          <a:xfrm>
            <a:off x="640080" y="4343400"/>
            <a:ext cx="200880" cy="200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8" name="Text 14"/>
          <p:cNvSpPr/>
          <p:nvPr/>
        </p:nvSpPr>
        <p:spPr>
          <a:xfrm>
            <a:off x="914400" y="425196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a2540"/>
                </a:solidFill>
                <a:effectLst/>
                <a:uFillTx/>
                <a:latin typeface="Calibri"/>
                <a:ea typeface="Calibri"/>
              </a:rPr>
              <a:t>Контроль пропусков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5"/>
          <p:cNvSpPr/>
          <p:nvPr/>
        </p:nvSpPr>
        <p:spPr>
          <a:xfrm>
            <a:off x="914400" y="461772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оповещение, если diff &gt; step + 5 мс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16"/>
          <p:cNvSpPr/>
          <p:nvPr/>
        </p:nvSpPr>
        <p:spPr>
          <a:xfrm>
            <a:off x="640080" y="5212080"/>
            <a:ext cx="200880" cy="200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1" name="Text 17"/>
          <p:cNvSpPr/>
          <p:nvPr/>
        </p:nvSpPr>
        <p:spPr>
          <a:xfrm>
            <a:off x="914400" y="512064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a2540"/>
                </a:solidFill>
                <a:effectLst/>
                <a:uFillTx/>
                <a:latin typeface="Calibri"/>
                <a:ea typeface="Calibri"/>
              </a:rPr>
              <a:t>Периодическая запись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8"/>
          <p:cNvSpPr/>
          <p:nvPr/>
        </p:nvSpPr>
        <p:spPr>
          <a:xfrm>
            <a:off x="914400" y="548640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буферизация и сброс на диск каждые 30 минут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19"/>
          <p:cNvSpPr/>
          <p:nvPr/>
        </p:nvSpPr>
        <p:spPr>
          <a:xfrm>
            <a:off x="5120640" y="2331720"/>
            <a:ext cx="6583320" cy="42058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4" name="Shape 20"/>
          <p:cNvSpPr/>
          <p:nvPr/>
        </p:nvSpPr>
        <p:spPr>
          <a:xfrm>
            <a:off x="5349240" y="2487240"/>
            <a:ext cx="145800" cy="1458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5" name="Shape 21"/>
          <p:cNvSpPr/>
          <p:nvPr/>
        </p:nvSpPr>
        <p:spPr>
          <a:xfrm>
            <a:off x="5577840" y="2487240"/>
            <a:ext cx="145800" cy="14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6" name="Shape 22"/>
          <p:cNvSpPr/>
          <p:nvPr/>
        </p:nvSpPr>
        <p:spPr>
          <a:xfrm>
            <a:off x="5806440" y="2487240"/>
            <a:ext cx="145800" cy="1458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7" name="Text 23"/>
          <p:cNvSpPr/>
          <p:nvPr/>
        </p:nvSpPr>
        <p:spPr>
          <a:xfrm>
            <a:off x="6126480" y="23958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7e8f9"/>
                </a:solidFill>
                <a:effectLst/>
                <a:uFillTx/>
                <a:latin typeface="Consolas"/>
                <a:ea typeface="Consolas"/>
              </a:rPr>
              <a:t>seismo_acquire.py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24"/>
          <p:cNvSpPr/>
          <p:nvPr/>
        </p:nvSpPr>
        <p:spPr>
          <a:xfrm>
            <a:off x="5349240" y="2880360"/>
            <a:ext cx="6263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7e8f9"/>
                </a:solidFill>
                <a:effectLst/>
                <a:uFillTx/>
                <a:latin typeface="Consolas"/>
                <a:ea typeface="Consolas"/>
              </a:rPr>
              <a:t>PORT = "/dev/rfcomm0"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7e8f9"/>
                </a:solidFill>
                <a:effectLst/>
                <a:uFillTx/>
                <a:latin typeface="Consolas"/>
                <a:ea typeface="Consolas"/>
              </a:rPr>
              <a:t>BAUD = 115200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7e8f9"/>
                </a:solidFill>
                <a:effectLst/>
                <a:uFillTx/>
                <a:latin typeface="Consolas"/>
                <a:ea typeface="Consolas"/>
              </a:rPr>
              <a:t>EXPECTED_STEP = 20   # 50 Hz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7e8f9"/>
                </a:solidFill>
                <a:effectLst/>
                <a:uFillTx/>
                <a:latin typeface="Consolas"/>
                <a:ea typeface="Consolas"/>
              </a:rPr>
              <a:t>def is_valid(line):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7e8f9"/>
                </a:solidFill>
                <a:effectLst/>
                <a:uFillTx/>
                <a:latin typeface="Consolas"/>
                <a:ea typeface="Consolas"/>
              </a:rPr>
              <a:t>    parts = line.split(',')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7e8f9"/>
                </a:solidFill>
                <a:effectLst/>
                <a:uFillTx/>
                <a:latin typeface="Consolas"/>
                <a:ea typeface="Consolas"/>
              </a:rPr>
              <a:t>    if len(parts) != 5: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7e8f9"/>
                </a:solidFill>
                <a:effectLst/>
                <a:uFillTx/>
                <a:latin typeface="Consolas"/>
                <a:ea typeface="Consolas"/>
              </a:rPr>
              <a:t>        return False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7e8f9"/>
                </a:solidFill>
                <a:effectLst/>
                <a:uFillTx/>
                <a:latin typeface="Consolas"/>
                <a:ea typeface="Consolas"/>
              </a:rPr>
              <a:t>    try: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7e8f9"/>
                </a:solidFill>
                <a:effectLst/>
                <a:uFillTx/>
                <a:latin typeface="Consolas"/>
                <a:ea typeface="Consolas"/>
              </a:rPr>
              <a:t>        [float(p) for p in parts]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7e8f9"/>
                </a:solidFill>
                <a:effectLst/>
                <a:uFillTx/>
                <a:latin typeface="Consolas"/>
                <a:ea typeface="Consolas"/>
              </a:rPr>
              <a:t>        return True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7e8f9"/>
                </a:solidFill>
                <a:effectLst/>
                <a:uFillTx/>
                <a:latin typeface="Consolas"/>
                <a:ea typeface="Consolas"/>
              </a:rPr>
              <a:t>    except ValueError: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7e8f9"/>
                </a:solidFill>
                <a:effectLst/>
                <a:uFillTx/>
                <a:latin typeface="Consolas"/>
                <a:ea typeface="Consolas"/>
              </a:rPr>
              <a:t>        return False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7e8f9"/>
                </a:solidFill>
                <a:effectLst/>
                <a:uFillTx/>
                <a:latin typeface="Consolas"/>
                <a:ea typeface="Consolas"/>
              </a:rPr>
              <a:t>while True: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7e8f9"/>
                </a:solidFill>
                <a:effectLst/>
                <a:uFillTx/>
                <a:latin typeface="Consolas"/>
                <a:ea typeface="Consolas"/>
              </a:rPr>
              <a:t>    raw = ser.readline().decode().strip()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7e8f9"/>
                </a:solidFill>
                <a:effectLst/>
                <a:uFillTx/>
                <a:latin typeface="Consolas"/>
                <a:ea typeface="Consolas"/>
              </a:rPr>
              <a:t>    if is_valid(raw):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7e8f9"/>
                </a:solidFill>
                <a:effectLst/>
                <a:uFillTx/>
                <a:latin typeface="Consolas"/>
                <a:ea typeface="Consolas"/>
              </a:rPr>
              <a:t>        cur_t = int(raw.split(',')[0])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7e8f9"/>
                </a:solidFill>
                <a:effectLst/>
                <a:uFillTx/>
                <a:latin typeface="Consolas"/>
                <a:ea typeface="Consolas"/>
              </a:rPr>
              <a:t>        if cur_t - last_t &gt; EXPECTED_STEP + 5: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7e8f9"/>
                </a:solidFill>
                <a:effectLst/>
                <a:uFillTx/>
                <a:latin typeface="Consolas"/>
                <a:ea typeface="Consolas"/>
              </a:rPr>
              <a:t>            print(f"пропуск: {cur_t-last_t} мс")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7e8f9"/>
                </a:solidFill>
                <a:effectLst/>
                <a:uFillTx/>
                <a:latin typeface="Consolas"/>
                <a:ea typeface="Consolas"/>
              </a:rPr>
              <a:t>        last_t = cur_t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Shape 0"/>
          <p:cNvSpPr/>
          <p:nvPr/>
        </p:nvSpPr>
        <p:spPr>
          <a:xfrm>
            <a:off x="457200" y="411480"/>
            <a:ext cx="72720" cy="292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0" name="Text 1"/>
          <p:cNvSpPr/>
          <p:nvPr/>
        </p:nvSpPr>
        <p:spPr>
          <a:xfrm>
            <a:off x="640080" y="384120"/>
            <a:ext cx="6400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06 · ТЕСТИРОВАНИЕ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2"/>
          <p:cNvSpPr/>
          <p:nvPr/>
        </p:nvSpPr>
        <p:spPr>
          <a:xfrm>
            <a:off x="10911600" y="384120"/>
            <a:ext cx="822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13 / 17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3"/>
          <p:cNvSpPr/>
          <p:nvPr/>
        </p:nvSpPr>
        <p:spPr>
          <a:xfrm>
            <a:off x="457200" y="868680"/>
            <a:ext cx="11277000" cy="360"/>
          </a:xfrm>
          <a:prstGeom prst="line">
            <a:avLst/>
          </a:prstGeom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3" name="Text 4"/>
          <p:cNvSpPr/>
          <p:nvPr/>
        </p:nvSpPr>
        <p:spPr>
          <a:xfrm>
            <a:off x="45720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ИС мониторинга здания · Сейсмодатчики + ИИ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5"/>
          <p:cNvSpPr/>
          <p:nvPr/>
        </p:nvSpPr>
        <p:spPr>
          <a:xfrm>
            <a:off x="457200" y="1051560"/>
            <a:ext cx="11277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0a2540"/>
                </a:solidFill>
                <a:effectLst/>
                <a:uFillTx/>
                <a:latin typeface="Georgia"/>
                <a:ea typeface="Georgia"/>
              </a:rPr>
              <a:t>Виды и состав тест-кейсов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6"/>
          <p:cNvSpPr/>
          <p:nvPr/>
        </p:nvSpPr>
        <p:spPr>
          <a:xfrm>
            <a:off x="457200" y="17830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7"/>
          <p:cNvSpPr/>
          <p:nvPr/>
        </p:nvSpPr>
        <p:spPr>
          <a:xfrm>
            <a:off x="640080" y="2514600"/>
            <a:ext cx="3657240" cy="374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7" name="Shape 8"/>
          <p:cNvSpPr/>
          <p:nvPr/>
        </p:nvSpPr>
        <p:spPr>
          <a:xfrm>
            <a:off x="640080" y="2514600"/>
            <a:ext cx="3657240" cy="594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8" name="Text 9"/>
          <p:cNvSpPr/>
          <p:nvPr/>
        </p:nvSpPr>
        <p:spPr>
          <a:xfrm>
            <a:off x="868680" y="260604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3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0"/>
          <p:cNvSpPr/>
          <p:nvPr/>
        </p:nvSpPr>
        <p:spPr>
          <a:xfrm>
            <a:off x="1554480" y="260604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Функциональное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11"/>
          <p:cNvSpPr/>
          <p:nvPr/>
        </p:nvSpPr>
        <p:spPr>
          <a:xfrm>
            <a:off x="1554480" y="2843640"/>
            <a:ext cx="2651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FR-1 … FR-6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12"/>
          <p:cNvSpPr/>
          <p:nvPr/>
        </p:nvSpPr>
        <p:spPr>
          <a:xfrm>
            <a:off x="868680" y="3547800"/>
            <a:ext cx="36360" cy="3654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2" name="Text 13"/>
          <p:cNvSpPr/>
          <p:nvPr/>
        </p:nvSpPr>
        <p:spPr>
          <a:xfrm>
            <a:off x="1005840" y="338328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01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Тест 1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4"/>
          <p:cNvSpPr/>
          <p:nvPr/>
        </p:nvSpPr>
        <p:spPr>
          <a:xfrm>
            <a:off x="1005840" y="361188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Триггер фиксации вибрации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15"/>
          <p:cNvSpPr/>
          <p:nvPr/>
        </p:nvSpPr>
        <p:spPr>
          <a:xfrm>
            <a:off x="868680" y="4416480"/>
            <a:ext cx="36360" cy="3654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5" name="Text 16"/>
          <p:cNvSpPr/>
          <p:nvPr/>
        </p:nvSpPr>
        <p:spPr>
          <a:xfrm>
            <a:off x="1005840" y="425196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01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Тест 2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7"/>
          <p:cNvSpPr/>
          <p:nvPr/>
        </p:nvSpPr>
        <p:spPr>
          <a:xfrm>
            <a:off x="1005840" y="448056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Классификация события ИИ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18"/>
          <p:cNvSpPr/>
          <p:nvPr/>
        </p:nvSpPr>
        <p:spPr>
          <a:xfrm>
            <a:off x="868680" y="5285160"/>
            <a:ext cx="36360" cy="3654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8" name="Text 19"/>
          <p:cNvSpPr/>
          <p:nvPr/>
        </p:nvSpPr>
        <p:spPr>
          <a:xfrm>
            <a:off x="1005840" y="512064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01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Тест 3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20"/>
          <p:cNvSpPr/>
          <p:nvPr/>
        </p:nvSpPr>
        <p:spPr>
          <a:xfrm>
            <a:off x="1005840" y="534924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Отправка push-уведомления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21"/>
          <p:cNvSpPr/>
          <p:nvPr/>
        </p:nvSpPr>
        <p:spPr>
          <a:xfrm>
            <a:off x="4434840" y="2514600"/>
            <a:ext cx="3657240" cy="374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1" name="Shape 22"/>
          <p:cNvSpPr/>
          <p:nvPr/>
        </p:nvSpPr>
        <p:spPr>
          <a:xfrm>
            <a:off x="4434840" y="2514600"/>
            <a:ext cx="3657240" cy="594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2" name="Text 23"/>
          <p:cNvSpPr/>
          <p:nvPr/>
        </p:nvSpPr>
        <p:spPr>
          <a:xfrm>
            <a:off x="4663440" y="260604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3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24"/>
          <p:cNvSpPr/>
          <p:nvPr/>
        </p:nvSpPr>
        <p:spPr>
          <a:xfrm>
            <a:off x="5349240" y="260604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Производительность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25"/>
          <p:cNvSpPr/>
          <p:nvPr/>
        </p:nvSpPr>
        <p:spPr>
          <a:xfrm>
            <a:off x="5349240" y="2843640"/>
            <a:ext cx="2651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Performance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26"/>
          <p:cNvSpPr/>
          <p:nvPr/>
        </p:nvSpPr>
        <p:spPr>
          <a:xfrm>
            <a:off x="4663440" y="3547800"/>
            <a:ext cx="36360" cy="365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6" name="Text 27"/>
          <p:cNvSpPr/>
          <p:nvPr/>
        </p:nvSpPr>
        <p:spPr>
          <a:xfrm>
            <a:off x="4800600" y="338328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01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Тест 1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28"/>
          <p:cNvSpPr/>
          <p:nvPr/>
        </p:nvSpPr>
        <p:spPr>
          <a:xfrm>
            <a:off x="4800600" y="361188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Обработка 30-сек. окна ≤ 5 сек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29"/>
          <p:cNvSpPr/>
          <p:nvPr/>
        </p:nvSpPr>
        <p:spPr>
          <a:xfrm>
            <a:off x="4663440" y="4416480"/>
            <a:ext cx="36360" cy="365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9" name="Text 30"/>
          <p:cNvSpPr/>
          <p:nvPr/>
        </p:nvSpPr>
        <p:spPr>
          <a:xfrm>
            <a:off x="4800600" y="425196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01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Тест 2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31"/>
          <p:cNvSpPr/>
          <p:nvPr/>
        </p:nvSpPr>
        <p:spPr>
          <a:xfrm>
            <a:off x="4800600" y="448056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Масштабируемость до 10 узлов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32"/>
          <p:cNvSpPr/>
          <p:nvPr/>
        </p:nvSpPr>
        <p:spPr>
          <a:xfrm>
            <a:off x="4663440" y="5285160"/>
            <a:ext cx="36360" cy="365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2" name="Text 33"/>
          <p:cNvSpPr/>
          <p:nvPr/>
        </p:nvSpPr>
        <p:spPr>
          <a:xfrm>
            <a:off x="4800600" y="512064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01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Тест 3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34"/>
          <p:cNvSpPr/>
          <p:nvPr/>
        </p:nvSpPr>
        <p:spPr>
          <a:xfrm>
            <a:off x="4800600" y="534924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Отрисовка графиков ≤ 2 сек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35"/>
          <p:cNvSpPr/>
          <p:nvPr/>
        </p:nvSpPr>
        <p:spPr>
          <a:xfrm>
            <a:off x="8229600" y="2514600"/>
            <a:ext cx="3657240" cy="374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5" name="Shape 36"/>
          <p:cNvSpPr/>
          <p:nvPr/>
        </p:nvSpPr>
        <p:spPr>
          <a:xfrm>
            <a:off x="8229600" y="2514600"/>
            <a:ext cx="3657240" cy="594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6" name="Text 37"/>
          <p:cNvSpPr/>
          <p:nvPr/>
        </p:nvSpPr>
        <p:spPr>
          <a:xfrm>
            <a:off x="8458200" y="260604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3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38"/>
          <p:cNvSpPr/>
          <p:nvPr/>
        </p:nvSpPr>
        <p:spPr>
          <a:xfrm>
            <a:off x="9144000" y="260604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Надёжность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39"/>
          <p:cNvSpPr/>
          <p:nvPr/>
        </p:nvSpPr>
        <p:spPr>
          <a:xfrm>
            <a:off x="9144000" y="2843640"/>
            <a:ext cx="2651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Reliability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40"/>
          <p:cNvSpPr/>
          <p:nvPr/>
        </p:nvSpPr>
        <p:spPr>
          <a:xfrm>
            <a:off x="8458200" y="3547800"/>
            <a:ext cx="36360" cy="365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0" name="Text 41"/>
          <p:cNvSpPr/>
          <p:nvPr/>
        </p:nvSpPr>
        <p:spPr>
          <a:xfrm>
            <a:off x="8595360" y="338328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01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Тест 1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42"/>
          <p:cNvSpPr/>
          <p:nvPr/>
        </p:nvSpPr>
        <p:spPr>
          <a:xfrm>
            <a:off x="8595360" y="361188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Непрерывное логирование 24 ч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43"/>
          <p:cNvSpPr/>
          <p:nvPr/>
        </p:nvSpPr>
        <p:spPr>
          <a:xfrm>
            <a:off x="8458200" y="4416480"/>
            <a:ext cx="36360" cy="365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3" name="Text 44"/>
          <p:cNvSpPr/>
          <p:nvPr/>
        </p:nvSpPr>
        <p:spPr>
          <a:xfrm>
            <a:off x="8595360" y="425196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01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Тест 2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45"/>
          <p:cNvSpPr/>
          <p:nvPr/>
        </p:nvSpPr>
        <p:spPr>
          <a:xfrm>
            <a:off x="8595360" y="448056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Восстановление после сбоя датчика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46"/>
          <p:cNvSpPr/>
          <p:nvPr/>
        </p:nvSpPr>
        <p:spPr>
          <a:xfrm>
            <a:off x="8458200" y="5285160"/>
            <a:ext cx="36360" cy="365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6" name="Text 47"/>
          <p:cNvSpPr/>
          <p:nvPr/>
        </p:nvSpPr>
        <p:spPr>
          <a:xfrm>
            <a:off x="8595360" y="512064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01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Тест 3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48"/>
          <p:cNvSpPr/>
          <p:nvPr/>
        </p:nvSpPr>
        <p:spPr>
          <a:xfrm>
            <a:off x="8595360" y="534924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Стабильность при «белом шуме»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/>
          <p:cNvSpPr/>
          <p:nvPr/>
        </p:nvSpPr>
        <p:spPr>
          <a:xfrm>
            <a:off x="457200" y="411480"/>
            <a:ext cx="72720" cy="292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9" name="Text 1"/>
          <p:cNvSpPr/>
          <p:nvPr/>
        </p:nvSpPr>
        <p:spPr>
          <a:xfrm>
            <a:off x="640080" y="384120"/>
            <a:ext cx="6400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06 · ТЕСТИРОВАНИЕ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2"/>
          <p:cNvSpPr/>
          <p:nvPr/>
        </p:nvSpPr>
        <p:spPr>
          <a:xfrm>
            <a:off x="10911600" y="384120"/>
            <a:ext cx="822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14 / 17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3"/>
          <p:cNvSpPr/>
          <p:nvPr/>
        </p:nvSpPr>
        <p:spPr>
          <a:xfrm>
            <a:off x="457200" y="868680"/>
            <a:ext cx="11277000" cy="360"/>
          </a:xfrm>
          <a:prstGeom prst="line">
            <a:avLst/>
          </a:prstGeom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2" name="Text 4"/>
          <p:cNvSpPr/>
          <p:nvPr/>
        </p:nvSpPr>
        <p:spPr>
          <a:xfrm>
            <a:off x="45720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ИС мониторинга здания · Сейсмодатчики + ИИ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5"/>
          <p:cNvSpPr/>
          <p:nvPr/>
        </p:nvSpPr>
        <p:spPr>
          <a:xfrm>
            <a:off x="457200" y="1051560"/>
            <a:ext cx="11277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0a2540"/>
                </a:solidFill>
                <a:effectLst/>
                <a:uFillTx/>
                <a:latin typeface="Georgia"/>
                <a:ea typeface="Georgia"/>
              </a:rPr>
              <a:t>Результаты: измеренные параметры vs целевые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6"/>
          <p:cNvSpPr/>
          <p:nvPr/>
        </p:nvSpPr>
        <p:spPr>
          <a:xfrm>
            <a:off x="457200" y="17830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25" name="Chart 0"/>
          <p:cNvGraphicFramePr/>
          <p:nvPr/>
        </p:nvGraphicFramePr>
        <p:xfrm>
          <a:off x="640080" y="2468880"/>
          <a:ext cx="6949080" cy="402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26" name="Shape 7"/>
          <p:cNvSpPr/>
          <p:nvPr/>
        </p:nvSpPr>
        <p:spPr>
          <a:xfrm>
            <a:off x="7863840" y="2606040"/>
            <a:ext cx="3840120" cy="11883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7" name="Shape 8"/>
          <p:cNvSpPr/>
          <p:nvPr/>
        </p:nvSpPr>
        <p:spPr>
          <a:xfrm>
            <a:off x="7863840" y="2606040"/>
            <a:ext cx="72720" cy="1188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28" name="Image 0" descr="preencoded.png"/>
          <p:cNvPicPr/>
          <p:nvPr/>
        </p:nvPicPr>
        <p:blipFill>
          <a:blip r:embed="rId2"/>
          <a:stretch/>
        </p:blipFill>
        <p:spPr>
          <a:xfrm>
            <a:off x="8138160" y="278892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9" name="Text 9"/>
          <p:cNvSpPr/>
          <p:nvPr/>
        </p:nvSpPr>
        <p:spPr>
          <a:xfrm>
            <a:off x="8641080" y="274320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a2540"/>
                </a:solidFill>
                <a:effectLst/>
                <a:uFillTx/>
                <a:latin typeface="Calibri"/>
                <a:ea typeface="Calibri"/>
              </a:rPr>
              <a:t>Производительность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10"/>
          <p:cNvSpPr/>
          <p:nvPr/>
        </p:nvSpPr>
        <p:spPr>
          <a:xfrm>
            <a:off x="8641080" y="3108960"/>
            <a:ext cx="2925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Все 4 метрики укладываются в целевые значения с запасом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11"/>
          <p:cNvSpPr/>
          <p:nvPr/>
        </p:nvSpPr>
        <p:spPr>
          <a:xfrm>
            <a:off x="7863840" y="3931920"/>
            <a:ext cx="3840120" cy="11883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2" name="Shape 12"/>
          <p:cNvSpPr/>
          <p:nvPr/>
        </p:nvSpPr>
        <p:spPr>
          <a:xfrm>
            <a:off x="7863840" y="3931920"/>
            <a:ext cx="72720" cy="1188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33" name="Image 1" descr="preencoded.png"/>
          <p:cNvPicPr/>
          <p:nvPr/>
        </p:nvPicPr>
        <p:blipFill>
          <a:blip r:embed="rId3"/>
          <a:stretch/>
        </p:blipFill>
        <p:spPr>
          <a:xfrm>
            <a:off x="8138160" y="41148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4" name="Text 13"/>
          <p:cNvSpPr/>
          <p:nvPr/>
        </p:nvSpPr>
        <p:spPr>
          <a:xfrm>
            <a:off x="8641080" y="406908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a2540"/>
                </a:solidFill>
                <a:effectLst/>
                <a:uFillTx/>
                <a:latin typeface="Calibri"/>
                <a:ea typeface="Calibri"/>
              </a:rPr>
              <a:t>Надёжность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14"/>
          <p:cNvSpPr/>
          <p:nvPr/>
        </p:nvSpPr>
        <p:spPr>
          <a:xfrm>
            <a:off x="8641080" y="4434840"/>
            <a:ext cx="2925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24-часовой прогон без потерь данных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15"/>
          <p:cNvSpPr/>
          <p:nvPr/>
        </p:nvSpPr>
        <p:spPr>
          <a:xfrm>
            <a:off x="7863840" y="5257800"/>
            <a:ext cx="3840120" cy="11883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7" name="Shape 16"/>
          <p:cNvSpPr/>
          <p:nvPr/>
        </p:nvSpPr>
        <p:spPr>
          <a:xfrm>
            <a:off x="7863840" y="5257800"/>
            <a:ext cx="72720" cy="1188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38" name="Image 2" descr="preencoded.png"/>
          <p:cNvPicPr/>
          <p:nvPr/>
        </p:nvPicPr>
        <p:blipFill>
          <a:blip r:embed="rId4"/>
          <a:stretch/>
        </p:blipFill>
        <p:spPr>
          <a:xfrm>
            <a:off x="8138160" y="54406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9" name="Text 17"/>
          <p:cNvSpPr/>
          <p:nvPr/>
        </p:nvSpPr>
        <p:spPr>
          <a:xfrm>
            <a:off x="8641080" y="539496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a2540"/>
                </a:solidFill>
                <a:effectLst/>
                <a:uFillTx/>
                <a:latin typeface="Calibri"/>
                <a:ea typeface="Calibri"/>
              </a:rPr>
              <a:t>Точность модели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18"/>
          <p:cNvSpPr/>
          <p:nvPr/>
        </p:nvSpPr>
        <p:spPr>
          <a:xfrm>
            <a:off x="8641080" y="5760720"/>
            <a:ext cx="2925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NFR-4 (F1 ≥ 0,85) — этап 2 после обучения CNN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Shape 0"/>
          <p:cNvSpPr/>
          <p:nvPr/>
        </p:nvSpPr>
        <p:spPr>
          <a:xfrm>
            <a:off x="457200" y="411480"/>
            <a:ext cx="72720" cy="292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2" name="Text 1"/>
          <p:cNvSpPr/>
          <p:nvPr/>
        </p:nvSpPr>
        <p:spPr>
          <a:xfrm>
            <a:off x="640080" y="384120"/>
            <a:ext cx="6400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07 · ВЫВОДЫ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2"/>
          <p:cNvSpPr/>
          <p:nvPr/>
        </p:nvSpPr>
        <p:spPr>
          <a:xfrm>
            <a:off x="10911600" y="384120"/>
            <a:ext cx="822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16 / 17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3"/>
          <p:cNvSpPr/>
          <p:nvPr/>
        </p:nvSpPr>
        <p:spPr>
          <a:xfrm>
            <a:off x="457200" y="868680"/>
            <a:ext cx="11277000" cy="360"/>
          </a:xfrm>
          <a:prstGeom prst="line">
            <a:avLst/>
          </a:prstGeom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5" name="Text 4"/>
          <p:cNvSpPr/>
          <p:nvPr/>
        </p:nvSpPr>
        <p:spPr>
          <a:xfrm>
            <a:off x="457200" y="6492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ИС мониторинга здания · Сейсмодатчики + ИИ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5"/>
          <p:cNvSpPr/>
          <p:nvPr/>
        </p:nvSpPr>
        <p:spPr>
          <a:xfrm>
            <a:off x="457200" y="1051560"/>
            <a:ext cx="11277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0a2540"/>
                </a:solidFill>
                <a:effectLst/>
                <a:uFillTx/>
                <a:latin typeface="Georgia"/>
                <a:ea typeface="Georgia"/>
              </a:rPr>
              <a:t>Выводы и направления развития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6"/>
          <p:cNvSpPr/>
          <p:nvPr/>
        </p:nvSpPr>
        <p:spPr>
          <a:xfrm>
            <a:off x="640080" y="251460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400" strike="noStrike" u="non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Достигнуто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8" name="Image 0" descr="preencoded.png"/>
          <p:cNvPicPr/>
          <p:nvPr/>
        </p:nvPicPr>
        <p:blipFill>
          <a:blip r:embed="rId1"/>
          <a:stretch/>
        </p:blipFill>
        <p:spPr>
          <a:xfrm>
            <a:off x="640080" y="30448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9" name="Text 7"/>
          <p:cNvSpPr/>
          <p:nvPr/>
        </p:nvSpPr>
        <p:spPr>
          <a:xfrm>
            <a:off x="1051560" y="2971800"/>
            <a:ext cx="4845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Зафиксированы и проверены требования по 10 критериям качества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0" name="Image 1" descr="preencoded.png"/>
          <p:cNvPicPr/>
          <p:nvPr/>
        </p:nvPicPr>
        <p:blipFill>
          <a:blip r:embed="rId2"/>
          <a:stretch/>
        </p:blipFill>
        <p:spPr>
          <a:xfrm>
            <a:off x="640080" y="37306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1" name="Text 8"/>
          <p:cNvSpPr/>
          <p:nvPr/>
        </p:nvSpPr>
        <p:spPr>
          <a:xfrm>
            <a:off x="1051560" y="3657600"/>
            <a:ext cx="4845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Спроектирована полная архитектура (UML, IDEF0, DFD, ER)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2" name="Image 2" descr="preencoded.png"/>
          <p:cNvPicPr/>
          <p:nvPr/>
        </p:nvPicPr>
        <p:blipFill>
          <a:blip r:embed="rId3"/>
          <a:stretch/>
        </p:blipFill>
        <p:spPr>
          <a:xfrm>
            <a:off x="640080" y="44164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3" name="Text 9"/>
          <p:cNvSpPr/>
          <p:nvPr/>
        </p:nvSpPr>
        <p:spPr>
          <a:xfrm>
            <a:off x="1051560" y="4343400"/>
            <a:ext cx="4845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Реализован прототип DAQ + детекции движения + порогового классификатора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4" name="Image 3" descr="preencoded.png"/>
          <p:cNvPicPr/>
          <p:nvPr/>
        </p:nvPicPr>
        <p:blipFill>
          <a:blip r:embed="rId4"/>
          <a:stretch/>
        </p:blipFill>
        <p:spPr>
          <a:xfrm>
            <a:off x="640080" y="51022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5" name="Text 10"/>
          <p:cNvSpPr/>
          <p:nvPr/>
        </p:nvSpPr>
        <p:spPr>
          <a:xfrm>
            <a:off x="1051560" y="5029200"/>
            <a:ext cx="4845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Подтверждены ключевые метрики производительности и надёжности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11"/>
          <p:cNvSpPr/>
          <p:nvPr/>
        </p:nvSpPr>
        <p:spPr>
          <a:xfrm>
            <a:off x="6263640" y="2514600"/>
            <a:ext cx="5486040" cy="4023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7" name="Text 12"/>
          <p:cNvSpPr/>
          <p:nvPr/>
        </p:nvSpPr>
        <p:spPr>
          <a:xfrm>
            <a:off x="6492240" y="26974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400" strike="noStrike" u="non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Дальнейшие шаги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13"/>
          <p:cNvSpPr/>
          <p:nvPr/>
        </p:nvSpPr>
        <p:spPr>
          <a:xfrm>
            <a:off x="6492240" y="320040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59e0b"/>
                </a:solidFill>
                <a:effectLst/>
                <a:uFillTx/>
                <a:latin typeface="Georgia"/>
                <a:ea typeface="Georgia"/>
              </a:rPr>
              <a:t>01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14"/>
          <p:cNvSpPr/>
          <p:nvPr/>
        </p:nvSpPr>
        <p:spPr>
          <a:xfrm>
            <a:off x="7178040" y="324612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Полноценная CNN-модель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15"/>
          <p:cNvSpPr/>
          <p:nvPr/>
        </p:nvSpPr>
        <p:spPr>
          <a:xfrm>
            <a:off x="7178040" y="354780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7e8f9"/>
                </a:solidFill>
                <a:effectLst/>
                <a:uFillTx/>
                <a:latin typeface="Calibri"/>
                <a:ea typeface="Calibri"/>
              </a:rPr>
              <a:t>Обучение на смеси реальных и синтетических данных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16"/>
          <p:cNvSpPr/>
          <p:nvPr/>
        </p:nvSpPr>
        <p:spPr>
          <a:xfrm>
            <a:off x="6492240" y="397764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59e0b"/>
                </a:solidFill>
                <a:effectLst/>
                <a:uFillTx/>
                <a:latin typeface="Georgia"/>
                <a:ea typeface="Georgia"/>
              </a:rPr>
              <a:t>02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17"/>
          <p:cNvSpPr/>
          <p:nvPr/>
        </p:nvSpPr>
        <p:spPr>
          <a:xfrm>
            <a:off x="7178040" y="402336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Сеть из 3-10 узлов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18"/>
          <p:cNvSpPr/>
          <p:nvPr/>
        </p:nvSpPr>
        <p:spPr>
          <a:xfrm>
            <a:off x="7178040" y="432504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7e8f9"/>
                </a:solidFill>
                <a:effectLst/>
                <a:uFillTx/>
                <a:latin typeface="Calibri"/>
                <a:ea typeface="Calibri"/>
              </a:rPr>
              <a:t>Реализация TDOA-локализации источника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19"/>
          <p:cNvSpPr/>
          <p:nvPr/>
        </p:nvSpPr>
        <p:spPr>
          <a:xfrm>
            <a:off x="6492240" y="475488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59e0b"/>
                </a:solidFill>
                <a:effectLst/>
                <a:uFillTx/>
                <a:latin typeface="Georgia"/>
                <a:ea typeface="Georgia"/>
              </a:rPr>
              <a:t>03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20"/>
          <p:cNvSpPr/>
          <p:nvPr/>
        </p:nvSpPr>
        <p:spPr>
          <a:xfrm>
            <a:off x="7178040" y="480060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Веб-интерфейс v2.0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21"/>
          <p:cNvSpPr/>
          <p:nvPr/>
        </p:nvSpPr>
        <p:spPr>
          <a:xfrm>
            <a:off x="7178040" y="510228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7e8f9"/>
                </a:solidFill>
                <a:effectLst/>
                <a:uFillTx/>
                <a:latin typeface="Calibri"/>
                <a:ea typeface="Calibri"/>
              </a:rPr>
              <a:t>3D-модель + тепловая карта напряжений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22"/>
          <p:cNvSpPr/>
          <p:nvPr/>
        </p:nvSpPr>
        <p:spPr>
          <a:xfrm>
            <a:off x="6492240" y="553212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59e0b"/>
                </a:solidFill>
                <a:effectLst/>
                <a:uFillTx/>
                <a:latin typeface="Georgia"/>
                <a:ea typeface="Georgia"/>
              </a:rPr>
              <a:t>04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23"/>
          <p:cNvSpPr/>
          <p:nvPr/>
        </p:nvSpPr>
        <p:spPr>
          <a:xfrm>
            <a:off x="7178040" y="557784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Прогноз износа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24"/>
          <p:cNvSpPr/>
          <p:nvPr/>
        </p:nvSpPr>
        <p:spPr>
          <a:xfrm>
            <a:off x="7178040" y="587952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7e8f9"/>
                </a:solidFill>
                <a:effectLst/>
                <a:uFillTx/>
                <a:latin typeface="Calibri"/>
                <a:ea typeface="Calibri"/>
              </a:rPr>
              <a:t>Усталостные трещины на горизонт 6 месяцев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Shape 0"/>
          <p:cNvSpPr/>
          <p:nvPr/>
        </p:nvSpPr>
        <p:spPr>
          <a:xfrm>
            <a:off x="0" y="5029200"/>
            <a:ext cx="12191400" cy="360"/>
          </a:xfrm>
          <a:prstGeom prst="line">
            <a:avLst/>
          </a:prstGeom>
          <a:ln w="5080">
            <a:solidFill>
              <a:srgbClr val="67e8f9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1" name="Shape 1"/>
          <p:cNvSpPr/>
          <p:nvPr/>
        </p:nvSpPr>
        <p:spPr>
          <a:xfrm>
            <a:off x="0" y="5257800"/>
            <a:ext cx="12191400" cy="360"/>
          </a:xfrm>
          <a:prstGeom prst="line">
            <a:avLst/>
          </a:prstGeom>
          <a:ln w="5080">
            <a:solidFill>
              <a:srgbClr val="67e8f9">
                <a:alpha val="2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2" name="Shape 2"/>
          <p:cNvSpPr/>
          <p:nvPr/>
        </p:nvSpPr>
        <p:spPr>
          <a:xfrm>
            <a:off x="0" y="5486400"/>
            <a:ext cx="12191400" cy="360"/>
          </a:xfrm>
          <a:prstGeom prst="line">
            <a:avLst/>
          </a:prstGeom>
          <a:ln w="5080">
            <a:solidFill>
              <a:srgbClr val="67e8f9">
                <a:alpha val="24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3" name="Shape 3"/>
          <p:cNvSpPr/>
          <p:nvPr/>
        </p:nvSpPr>
        <p:spPr>
          <a:xfrm>
            <a:off x="0" y="5715000"/>
            <a:ext cx="12191400" cy="360"/>
          </a:xfrm>
          <a:prstGeom prst="line">
            <a:avLst/>
          </a:prstGeom>
          <a:ln w="5080">
            <a:solidFill>
              <a:srgbClr val="67e8f9">
                <a:alpha val="21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4" name="Shape 4"/>
          <p:cNvSpPr/>
          <p:nvPr/>
        </p:nvSpPr>
        <p:spPr>
          <a:xfrm>
            <a:off x="0" y="5943600"/>
            <a:ext cx="12191400" cy="360"/>
          </a:xfrm>
          <a:prstGeom prst="line">
            <a:avLst/>
          </a:prstGeom>
          <a:ln w="5080">
            <a:solidFill>
              <a:srgbClr val="67e8f9">
                <a:alpha val="1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5" name="Shape 5"/>
          <p:cNvSpPr/>
          <p:nvPr/>
        </p:nvSpPr>
        <p:spPr>
          <a:xfrm>
            <a:off x="0" y="6172200"/>
            <a:ext cx="12191400" cy="360"/>
          </a:xfrm>
          <a:prstGeom prst="line">
            <a:avLst/>
          </a:prstGeom>
          <a:ln w="5080">
            <a:solidFill>
              <a:srgbClr val="67e8f9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6" name="Shape 6"/>
          <p:cNvSpPr/>
          <p:nvPr/>
        </p:nvSpPr>
        <p:spPr>
          <a:xfrm>
            <a:off x="0" y="6400800"/>
            <a:ext cx="12191400" cy="360"/>
          </a:xfrm>
          <a:prstGeom prst="line">
            <a:avLst/>
          </a:prstGeom>
          <a:ln w="5080">
            <a:solidFill>
              <a:srgbClr val="67e8f9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7" name="Shape 7"/>
          <p:cNvSpPr/>
          <p:nvPr/>
        </p:nvSpPr>
        <p:spPr>
          <a:xfrm>
            <a:off x="0" y="6629400"/>
            <a:ext cx="12191400" cy="360"/>
          </a:xfrm>
          <a:prstGeom prst="line">
            <a:avLst/>
          </a:prstGeom>
          <a:ln w="5080">
            <a:solidFill>
              <a:srgbClr val="67e8f9">
                <a:alpha val="9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8" name="Shape 8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9" name="Text 9"/>
          <p:cNvSpPr/>
          <p:nvPr/>
        </p:nvSpPr>
        <p:spPr>
          <a:xfrm>
            <a:off x="731520" y="1828800"/>
            <a:ext cx="109724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600" spc="799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СПАСИБО</a:t>
            </a:r>
            <a:endParaRPr b="0" lang="ru-RU" sz="9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10"/>
          <p:cNvSpPr/>
          <p:nvPr/>
        </p:nvSpPr>
        <p:spPr>
          <a:xfrm>
            <a:off x="731520" y="31089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3600" strike="noStrike" u="none">
                <a:solidFill>
                  <a:srgbClr val="f59e0b"/>
                </a:solidFill>
                <a:effectLst/>
                <a:uFillTx/>
                <a:latin typeface="Georgia"/>
                <a:ea typeface="Georgia"/>
              </a:rPr>
              <a:t>за внимание</a:t>
            </a:r>
            <a:endParaRPr b="0" lang="ru-RU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11"/>
          <p:cNvSpPr/>
          <p:nvPr/>
        </p:nvSpPr>
        <p:spPr>
          <a:xfrm>
            <a:off x="731520" y="4114800"/>
            <a:ext cx="1828800" cy="360"/>
          </a:xfrm>
          <a:prstGeom prst="line">
            <a:avLst/>
          </a:prstGeom>
          <a:ln w="19050">
            <a:solidFill>
              <a:srgbClr val="67e8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ru-KZ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2" name="Text 12"/>
          <p:cNvSpPr/>
          <p:nvPr/>
        </p:nvSpPr>
        <p:spPr>
          <a:xfrm>
            <a:off x="731520" y="429768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trike="noStrike" u="none">
                <a:solidFill>
                  <a:srgbClr val="67e8f9"/>
                </a:solidFill>
                <a:effectLst/>
                <a:uFillTx/>
                <a:latin typeface="Calibri"/>
                <a:ea typeface="Calibri"/>
              </a:rPr>
              <a:t>Готов ответить на ваши вопросы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13"/>
          <p:cNvSpPr/>
          <p:nvPr/>
        </p:nvSpPr>
        <p:spPr>
          <a:xfrm>
            <a:off x="731520" y="62179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ИС мониторинга состояния здания  ·  </a:t>
            </a: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Сейсмодатчики + ИИ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344</TotalTime>
  <Application>LibreOffice/25.2.7.2$Linux_X86_64 LibreOffice_project/520$Build-2</Application>
  <AppVersion>15.0000</AppVersion>
  <Words>1489</Words>
  <Paragraphs>371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2026-05-18T06:05:44Z</dcterms:created>
  <dc:creator>Аймаганбетов</dc:creator>
  <dc:description/>
  <dc:language>ru-RU</dc:language>
  <cp:lastModifiedBy/>
  <dcterms:modified xsi:type="dcterms:W3CDTF">2026-05-18T18:41:25Z</dcterms:modified>
  <cp:revision>2</cp:revision>
  <dc:subject>PptxGenJS Presentation</dc:subject>
  <dc:title>Информационная система мониторинга состояния здания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17</vt:i4>
  </property>
</Properties>
</file>