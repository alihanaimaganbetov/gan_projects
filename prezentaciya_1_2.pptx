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WGAN-GP для генерации синтетических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сейсмо-вибрационных сигналов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BD2E0"/>
                </a:solidFill>
                <a:latin typeface="Calibri"/>
              </a:rPr>
              <a:t>1D-свёрточный Generative Adversarial Network на собственном датасете IMU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BA3B5"/>
                </a:solidFill>
                <a:latin typeface="Calibri"/>
              </a:rPr>
              <a:t>Выполнил: студент Аймаганбетов · Дисциплина: Generative Adversarial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B3D"/>
                </a:solidFill>
                <a:latin typeface="Calibri"/>
              </a:rPr>
              <a:t>Зачем синтетические вибро-сигналы для сейсмо-мониторинга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FF6B35"/>
                </a:solidFill>
                <a:latin typeface="Calibri"/>
              </a:rPr>
              <a:t>●  Дефицит данных: </a:t>
            </a:r>
            <a:r>
              <a:rPr sz="1500">
                <a:solidFill>
                  <a:srgbClr val="1A1F36"/>
                </a:solidFill>
                <a:latin typeface="Calibri"/>
              </a:rPr>
              <a:t>реальные вибрационные события редки — собрано 2.66M отсчётов, но только 0.72% содержат полезный сигнал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35"/>
                </a:solidFill>
                <a:latin typeface="Calibri"/>
              </a:rPr>
              <a:t>●  Дисбаланс классов: </a:t>
            </a:r>
            <a:r>
              <a:rPr sz="1500">
                <a:solidFill>
                  <a:srgbClr val="1A1F36"/>
                </a:solidFill>
                <a:latin typeface="Calibri"/>
              </a:rPr>
              <a:t>детектор движений учится преимущественно на «тишине»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35"/>
                </a:solidFill>
                <a:latin typeface="Calibri"/>
              </a:rPr>
              <a:t>●  Расширение датасета: </a:t>
            </a:r>
            <a:r>
              <a:rPr sz="1500">
                <a:solidFill>
                  <a:srgbClr val="1A1F36"/>
                </a:solidFill>
                <a:latin typeface="Calibri"/>
              </a:rPr>
              <a:t>синтетические окна — путь к аугментации обучающей выборки для CNN-классификатора события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FF6B35"/>
                </a:solidFill>
                <a:latin typeface="Calibri"/>
              </a:rPr>
              <a:t>●  Тестирование детектора: </a:t>
            </a:r>
            <a:r>
              <a:rPr sz="1500">
                <a:solidFill>
                  <a:srgbClr val="1A1F36"/>
                </a:solidFill>
                <a:latin typeface="Calibri"/>
              </a:rPr>
              <a:t>контролируемая генерация всплесков нужной амплитуды для проверки порогов и устойчивости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2286000"/>
            <a:ext cx="1828800" cy="13716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5146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Calibri"/>
              </a:rPr>
              <a:t>0.72%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B6E"/>
                </a:solidFill>
                <a:latin typeface="Calibri"/>
              </a:rPr>
              <a:t>доля активных отсчётов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0" y="2286000"/>
            <a:ext cx="1828800" cy="13716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51460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Calibri"/>
              </a:rPr>
              <a:t>506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B6E"/>
                </a:solidFill>
                <a:latin typeface="Calibri"/>
              </a:rPr>
              <a:t>вибро-окон в датасете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840480"/>
            <a:ext cx="1828800" cy="13716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069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Calibri"/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754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B6E"/>
                </a:solidFill>
                <a:latin typeface="Calibri"/>
              </a:rPr>
              <a:t>частота дискретизации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3840480"/>
            <a:ext cx="1828800" cy="13716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4069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Calibri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754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B6E"/>
                </a:solidFill>
                <a:latin typeface="Calibri"/>
              </a:rPr>
              <a:t>отсчёта в окне (0.64 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Архитектура 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WGAN-GP с 1D-свёрточным генератором и критиком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486400" cy="42976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GENERATOR  G   ·  27 764 параметров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120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Вход: z ∈ ℝ³² (стандартный нормальный шум)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Linear → reshape (64, 4)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ConvTranspose1D 64→48, stride 2  → длина 8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ConvTranspose1D 48→32, stride 2  → длина 16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ConvTranspose1D 32→4,  stride 2  → длина 32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BatchNorm + ReLU; линейный выход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Результат: (4, 32) — x, y, z, extra @ 50 Гц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486400" cy="42976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CRITIC  D   ·  45 281 параметров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1206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Вход: (4, 32) — реальное или сгенерированное окно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Conv1D 4→32, stride 2 + LayerNorm + LeakyReLU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Conv1D 32→64, stride 2 + LayerNorm + LeakyReLU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Conv1D 64→128, stride 2 + LayerNorm + LeakyReLU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Linear → 1 (скалярная оценка, без sigmoid)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L = − E[D(real)] + E[D(fake)] + λ·GP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GP = E[(‖∇D(x̂)‖₂ − 1)²], λ =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Используемый датасет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Собственный датасет — IMU поток с ESP32 по Bluetooth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3152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Источник: </a:t>
            </a:r>
            <a:r>
              <a:rPr sz="1400">
                <a:solidFill>
                  <a:srgbClr val="1A1F36"/>
                </a:solidFill>
                <a:latin typeface="Calibri"/>
              </a:rPr>
              <a:t>47 текстовых лог-файлов IMU с акселерометра, 2.66 млн отсчётов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Каналы: </a:t>
            </a:r>
            <a:r>
              <a:rPr sz="1400">
                <a:solidFill>
                  <a:srgbClr val="1A1F36"/>
                </a:solidFill>
                <a:latin typeface="Calibri"/>
              </a:rPr>
              <a:t>accel-X, accel-Y, accel-Z (g) + shake_force (RMS-метрика)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Семплирование: </a:t>
            </a:r>
            <a:r>
              <a:rPr sz="1400">
                <a:solidFill>
                  <a:srgbClr val="1A1F36"/>
                </a:solidFill>
                <a:latin typeface="Calibri"/>
              </a:rPr>
              <a:t>50 Гц, шаг 20 мс между отсчётами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Сегментация: </a:t>
            </a:r>
            <a:r>
              <a:rPr sz="1400">
                <a:solidFill>
                  <a:srgbClr val="1A1F36"/>
                </a:solidFill>
                <a:latin typeface="Calibri"/>
              </a:rPr>
              <a:t>детектор активности: extra &gt; 0.05 g, склейка с зазором 0.5 c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Окна: </a:t>
            </a:r>
            <a:r>
              <a:rPr sz="1400">
                <a:solidFill>
                  <a:srgbClr val="1A1F36"/>
                </a:solidFill>
                <a:latin typeface="Calibri"/>
              </a:rPr>
              <a:t>длина 32 отсчёта (0.64 с), шаг 4 — итого 506 окон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Препроцессинг: </a:t>
            </a:r>
            <a:r>
              <a:rPr sz="1400">
                <a:solidFill>
                  <a:srgbClr val="1A1F36"/>
                </a:solidFill>
                <a:latin typeface="Calibri"/>
              </a:rPr>
              <a:t>вычитание DC по каналам (убрана гравитация), z-score нормализация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Train / Val split: </a:t>
            </a:r>
            <a:r>
              <a:rPr sz="1400">
                <a:solidFill>
                  <a:srgbClr val="1A1F36"/>
                </a:solidFill>
                <a:latin typeface="Calibri"/>
              </a:rPr>
              <a:t>378 / 128 (≈ 75% / 25%)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103120"/>
            <a:ext cx="3474720" cy="420624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B3D"/>
                </a:solidFill>
                <a:latin typeface="Calibri"/>
              </a:rPr>
              <a:t>ПИК |extra| ПО ОКНАМ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97480"/>
            <a:ext cx="3200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6B35"/>
                </a:solidFill>
                <a:latin typeface="Calibri"/>
              </a:rPr>
              <a:t>●  min: </a:t>
            </a:r>
            <a:r>
              <a:rPr sz="1200">
                <a:solidFill>
                  <a:srgbClr val="1A1F36"/>
                </a:solidFill>
                <a:latin typeface="Calibri"/>
              </a:rPr>
              <a:t>0.057 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6B35"/>
                </a:solidFill>
                <a:latin typeface="Calibri"/>
              </a:rPr>
              <a:t>●  median: </a:t>
            </a:r>
            <a:r>
              <a:rPr sz="1200">
                <a:solidFill>
                  <a:srgbClr val="1A1F36"/>
                </a:solidFill>
                <a:latin typeface="Calibri"/>
              </a:rPr>
              <a:t>0.484 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6B35"/>
                </a:solidFill>
                <a:latin typeface="Calibri"/>
              </a:rPr>
              <a:t>●  max: </a:t>
            </a:r>
            <a:r>
              <a:rPr sz="1200">
                <a:solidFill>
                  <a:srgbClr val="1A1F36"/>
                </a:solidFill>
                <a:latin typeface="Calibri"/>
              </a:rPr>
              <a:t>5.436 g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6B35"/>
                </a:solidFill>
                <a:latin typeface="Calibri"/>
              </a:rPr>
              <a:t>●  std в окне: </a:t>
            </a:r>
            <a:r>
              <a:rPr sz="1200">
                <a:solidFill>
                  <a:srgbClr val="1A1F36"/>
                </a:solidFill>
                <a:latin typeface="Calibri"/>
              </a:rPr>
              <a:t>0.23 (real) 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6B35"/>
                </a:solidFill>
                <a:latin typeface="Calibri"/>
              </a:rPr>
              <a:t>●  Источник: </a:t>
            </a:r>
            <a:r>
              <a:rPr sz="1200">
                <a:solidFill>
                  <a:srgbClr val="1A1F36"/>
                </a:solidFill>
                <a:latin typeface="Calibri"/>
              </a:rPr>
              <a:t>разные сессии 03–04 /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Процесс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Adversarial training: критик в N=3 шага против генератора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ГИПЕРПАРАМЕТРЫ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4864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Optimizer: </a:t>
            </a:r>
            <a:r>
              <a:rPr sz="1400">
                <a:solidFill>
                  <a:srgbClr val="1A1F36"/>
                </a:solidFill>
                <a:latin typeface="Calibri"/>
              </a:rPr>
              <a:t>Adam(β1=0.5, β2=0.9), lr=1e-4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Batch: </a:t>
            </a:r>
            <a:r>
              <a:rPr sz="1400">
                <a:solidFill>
                  <a:srgbClr val="1A1F36"/>
                </a:solidFill>
                <a:latin typeface="Calibri"/>
              </a:rPr>
              <a:t>64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Epochs: </a:t>
            </a:r>
            <a:r>
              <a:rPr sz="1400">
                <a:solidFill>
                  <a:srgbClr val="1A1F36"/>
                </a:solidFill>
                <a:latin typeface="Calibri"/>
              </a:rPr>
              <a:t>80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N_critic: </a:t>
            </a:r>
            <a:r>
              <a:rPr sz="1400">
                <a:solidFill>
                  <a:srgbClr val="1A1F36"/>
                </a:solidFill>
                <a:latin typeface="Calibri"/>
              </a:rPr>
              <a:t>3 (критик / 1 обновление G)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Latent dim z: </a:t>
            </a:r>
            <a:r>
              <a:rPr sz="1400">
                <a:solidFill>
                  <a:srgbClr val="1A1F36"/>
                </a:solidFill>
                <a:latin typeface="Calibri"/>
              </a:rPr>
              <a:t>32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λ Gradient Penalty: </a:t>
            </a:r>
            <a:r>
              <a:rPr sz="1400">
                <a:solidFill>
                  <a:srgbClr val="1A1F36"/>
                </a:solidFill>
                <a:latin typeface="Calibri"/>
              </a:rPr>
              <a:t>10.0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Train time на CPU: </a:t>
            </a:r>
            <a:r>
              <a:rPr sz="1400">
                <a:solidFill>
                  <a:srgbClr val="1A1F36"/>
                </a:solidFill>
                <a:latin typeface="Calibri"/>
              </a:rPr>
              <a:t>~19 секунд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FF6B35"/>
                </a:solidFill>
                <a:latin typeface="Calibri"/>
              </a:rPr>
              <a:t>●  Hardware: </a:t>
            </a:r>
            <a:r>
              <a:rPr sz="1400">
                <a:solidFill>
                  <a:srgbClr val="1A1F36"/>
                </a:solidFill>
                <a:latin typeface="Calibri"/>
              </a:rPr>
              <a:t>Python 3.11 + PyTorch 2.4 (CPU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ЛОГ W-DISTANCE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560320"/>
            <a:ext cx="5303520" cy="36576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 1 | D= 1.20  G= 0.34  | W-dist = 0.44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10 | D=−6.50  G= 3.48  | W-dist = 7.37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25 | D=−5.61  G= 3.84  | W-dist = 6.30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40 | D=−4.30  G= 6.53  | W-dist = 4.93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55 | D=−3.61  G= 9.99  | W-dist = 4.19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70 | D=−3.87  G=14.05  | W-dist = 4.55</a:t>
            </a:r>
          </a:p>
          <a:p>
            <a:pPr algn="l"/>
            <a:r>
              <a:rPr sz="1200" b="0">
                <a:solidFill>
                  <a:srgbClr val="1A1F36"/>
                </a:solidFill>
                <a:latin typeface="Consolas"/>
              </a:rPr>
              <a:t>ep  80 | D=−3.86  G=15.54  | W-dist = 4.49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Результаты генерации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Сравнение реальных и синтетических окон: формы и спектры</a:t>
            </a:r>
          </a:p>
        </p:txBody>
      </p:sp>
      <p:pic>
        <p:nvPicPr>
          <p:cNvPr id="7" name="Picture 6" descr="_compa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8412480" cy="47320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35440" y="1920240"/>
            <a:ext cx="2560320" cy="42976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72600" y="2057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B3D"/>
                </a:solidFill>
                <a:latin typeface="Calibri"/>
              </a:rPr>
              <a:t>ЧИТАЕМ ГРАФИК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468880"/>
            <a:ext cx="237744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Строка 1 — real окна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Строка 2 — fake окна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Строка 3 — средний |FFT|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x/y/z/extra — каналы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Y одинаков real/fake → амплитуды сравнимы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Сравнение real vs fake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Метрики покрытия и распределения по каналам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6858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Канал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real μ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fake μ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real σ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fake σ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W₁</a:t>
                      </a:r>
                    </a:p>
                  </a:txBody>
                  <a:tcPr>
                    <a:solidFill>
                      <a:srgbClr val="0F1B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−0.0070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0.2271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0.1139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0.0384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−0.0000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−0.0003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0.1742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0.0311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0.2526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0.1391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0.0399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F36"/>
                          </a:solidFill>
                        </a:rPr>
                        <a:t>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−0.0000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0.3708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0.1882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F36"/>
                          </a:solidFill>
                        </a:rPr>
                        <a:t>0.0777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_his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97680"/>
            <a:ext cx="11247120" cy="21088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201168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ИНТЕРПРЕТАЦИЯ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31720"/>
            <a:ext cx="41148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Средние совпадают (≈ 0): DC-вычитание ок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σ fake ≈ ½ σ real — крайние пики недо-учтены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W₁ &lt; 0.08 по всем каналам — слабая дивергенция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A1F36"/>
                </a:solidFill>
                <a:latin typeface="Calibri"/>
              </a:rPr>
              <a:t>●  Спектры x/y/z совпадают, extra — расхождение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Борьба с mode collapse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B3D"/>
                </a:solidFill>
                <a:latin typeface="Calibri"/>
              </a:rPr>
              <a:t>Эксперимент v1 (BCE-GAN) → v2 (WGAN-GP): что изменилось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03520" cy="44805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01E1E"/>
                </a:solidFill>
                <a:latin typeface="Calibri"/>
              </a:rPr>
              <a:t>ИТЕРАЦИЯ v1 · BCE-GAN 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0292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Порог extra &gt; 0.015 → 72 337 окон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BCE loss, без gradient penalty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Генератор схлопнулся к фоновому шуму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FFT-спектр fake → ложные пики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Гистограммы амплитуд: fake — узкий пик у нуля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Дискриминатор: acc_real ≈ 0.4 — путается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011680"/>
            <a:ext cx="5760720" cy="448056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1488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824D"/>
                </a:solidFill>
                <a:latin typeface="Calibri"/>
              </a:rPr>
              <a:t>ИТЕРАЦИЯ v2 · WGAN-GP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606040"/>
            <a:ext cx="54864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Жёсткий порог extra &gt; 0.05 → 506 окон, но реально вибрационных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DC-вычитание по окну — модель учит форму, не уровни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Wasserstein-1 + Gradient Penalty (λ=10)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LayerNorm в критике (не BatchNorm — нарушает GP)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N_critic = 3 — критик обновляется чаще 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BatchNorm в генераторе сохранён — стабилизатор 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W-distance падает с 7.4 до 4.5 — есть прогресс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F36"/>
                </a:solidFill>
                <a:latin typeface="Calibri"/>
              </a:rPr>
              <a:t>●  Спектры x/y/z совпадают с real, нет ложных пиков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Финальный проект · GAN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188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Calibri"/>
              </a:rP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B3D"/>
                </a:solidFill>
                <a:latin typeface="Calibri"/>
              </a:rPr>
              <a:t>Выводы и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ДОСТИГНУТО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6692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Полностью реализован adversarial training pipeline на PyTorch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Generator + Discriminator → WGAN-GP с λ_GP = 10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Использованы методы устойчивости: BatchNorm в G, LayerNorm в D, GP, DC-вычитание, осторожный betas Adam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Достигнуто совпадение спектральной структуры реальных и синтетических окон по x, y, z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Артефакты обучения: _gan_v2.pt (298 КБ), _samples_v2.npy, generate.py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Скрипт generate.py — CLI-генератор окон в CSV для дальнейшего использования в проекте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66928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Conditional GAN: метка пиковой амплитуды (массив amp_tr уже в датасете) — контроль силы вибрации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Увеличить датасет до ~5000 реальных вибро-окон — снять занижение σ для extra-канала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Заменить single-scale CNN на multi-scale (чтобы поймать одновременно быстрые транзиенты и медленные тренды)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Spectral consistency loss — прямое выравнивание FFT-спектров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EMA весов генератора — стандартный приём WGAN для качества образцов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36"/>
                </a:solidFill>
                <a:latin typeface="Calibri"/>
              </a:rPr>
              <a:t>●  Интеграция с CNN-классификатором: тестирование детектора на синтетических окнах с заданной амплитудой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3108960"/>
            <a:ext cx="3017520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СПАСИБО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FF6B35"/>
                </a:solidFill>
                <a:latin typeface="Calibri"/>
              </a:rPr>
              <a:t>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BD2E0"/>
                </a:solidFill>
                <a:latin typeface="Calibri"/>
              </a:rPr>
              <a:t>Готов ответить на ваши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BA3B5"/>
                </a:solidFill>
                <a:latin typeface="Calibri"/>
              </a:rPr>
              <a:t>WGAN-GP для генерации сейсмо-вибрационных сигналов  ·  Финальный 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